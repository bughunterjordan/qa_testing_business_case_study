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3" r:id="rId1"/>
  </p:sldMasterIdLst>
  <p:notesMasterIdLst>
    <p:notesMasterId r:id="rId18"/>
  </p:notesMasterIdLst>
  <p:sldIdLst>
    <p:sldId id="256" r:id="rId2"/>
    <p:sldId id="257" r:id="rId3"/>
    <p:sldId id="258" r:id="rId4"/>
    <p:sldId id="259" r:id="rId5"/>
    <p:sldId id="260" r:id="rId6"/>
    <p:sldId id="261" r:id="rId7"/>
    <p:sldId id="262" r:id="rId8"/>
    <p:sldId id="272" r:id="rId9"/>
    <p:sldId id="263" r:id="rId10"/>
    <p:sldId id="270" r:id="rId11"/>
    <p:sldId id="271" r:id="rId12"/>
    <p:sldId id="265" r:id="rId13"/>
    <p:sldId id="266" r:id="rId14"/>
    <p:sldId id="267" r:id="rId15"/>
    <p:sldId id="269"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63"/>
    <p:restoredTop sz="94637"/>
  </p:normalViewPr>
  <p:slideViewPr>
    <p:cSldViewPr snapToGrid="0">
      <p:cViewPr varScale="1">
        <p:scale>
          <a:sx n="103" d="100"/>
          <a:sy n="103" d="100"/>
        </p:scale>
        <p:origin x="5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D9E78A-5F45-A445-847E-12F4692ADF56}"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E0DC2-FABC-CF4F-A1E7-F67BB738C4B6}" type="slidenum">
              <a:rPr lang="en-US" smtClean="0"/>
              <a:t>‹#›</a:t>
            </a:fld>
            <a:endParaRPr lang="en-US"/>
          </a:p>
        </p:txBody>
      </p:sp>
    </p:spTree>
    <p:extLst>
      <p:ext uri="{BB962C8B-B14F-4D97-AF65-F5344CB8AC3E}">
        <p14:creationId xmlns:p14="http://schemas.microsoft.com/office/powerpoint/2010/main" val="4268005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E0DC2-FABC-CF4F-A1E7-F67BB738C4B6}" type="slidenum">
              <a:rPr lang="en-US" smtClean="0"/>
              <a:t>5</a:t>
            </a:fld>
            <a:endParaRPr lang="en-US"/>
          </a:p>
        </p:txBody>
      </p:sp>
    </p:spTree>
    <p:extLst>
      <p:ext uri="{BB962C8B-B14F-4D97-AF65-F5344CB8AC3E}">
        <p14:creationId xmlns:p14="http://schemas.microsoft.com/office/powerpoint/2010/main" val="4173809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C3BD54-29B9-3D42-B178-776ED395AA85}" type="datetimeFigureOut">
              <a:rPr lang="en-US" smtClean="0"/>
              <a:pPr/>
              <a:t>4/27/26</a:t>
            </a:fld>
            <a:endParaRPr lang="en-US" sz="140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86BB3423-611C-6944-BA94-F2572F362413}" type="slidenum">
              <a:rPr lang="en-US" smtClean="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303298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3BD54-29B9-3D42-B178-776ED395AA8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251160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C3BD54-29B9-3D42-B178-776ED395AA8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747036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C3BD54-29B9-3D42-B178-776ED395AA85}"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B3423-611C-6944-BA94-F2572F362413}"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746463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C3BD54-29B9-3D42-B178-776ED395AA85}" type="datetimeFigureOut">
              <a:rPr lang="en-US" smtClean="0"/>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2108971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C3BD54-29B9-3D42-B178-776ED395AA85}" type="datetimeFigureOut">
              <a:rPr lang="en-US" smtClean="0"/>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BB3423-611C-6944-BA94-F2572F362413}"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984291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73C3BD54-29B9-3D42-B178-776ED395AA85}" type="datetimeFigureOut">
              <a:rPr lang="en-US" smtClean="0"/>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719040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C3BD54-29B9-3D42-B178-776ED395AA85}"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1184457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C3BD54-29B9-3D42-B178-776ED395AA85}"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932843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3BD54-29B9-3D42-B178-776ED395AA8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2369521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3BD54-29B9-3D42-B178-776ED395AA8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670886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73C3BD54-29B9-3D42-B178-776ED395AA85}" type="datetimeFigureOut">
              <a:rPr lang="en-US" smtClean="0"/>
              <a:pPr/>
              <a:t>4/27/26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86BB3423-611C-6944-BA94-F2572F362413}" type="slidenum">
              <a:rPr lang="en-US" smtClean="0"/>
              <a:pPr/>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48297772"/>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10C3935-1100-CB17-E1CF-8BE5EA7A7282}"/>
              </a:ext>
            </a:extLst>
          </p:cNvPr>
          <p:cNvPicPr>
            <a:picLocks noChangeAspect="1"/>
          </p:cNvPicPr>
          <p:nvPr/>
        </p:nvPicPr>
        <p:blipFill>
          <a:blip r:embed="rId2"/>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1B8E49A-9380-BBF5-2F08-207596C53D1E}"/>
              </a:ext>
            </a:extLst>
          </p:cNvPr>
          <p:cNvSpPr>
            <a:spLocks noGrp="1"/>
          </p:cNvSpPr>
          <p:nvPr>
            <p:ph type="ctrTitle"/>
          </p:nvPr>
        </p:nvSpPr>
        <p:spPr>
          <a:xfrm>
            <a:off x="-600951" y="1483672"/>
            <a:ext cx="6696951" cy="2722164"/>
          </a:xfrm>
        </p:spPr>
        <p:txBody>
          <a:bodyPr>
            <a:normAutofit fontScale="90000"/>
          </a:bodyPr>
          <a:lstStyle/>
          <a:p>
            <a:r>
              <a:rPr lang="en-US" dirty="0"/>
              <a:t>IT Project Management </a:t>
            </a:r>
            <a:br>
              <a:rPr lang="en-US" dirty="0"/>
            </a:br>
            <a:r>
              <a:rPr lang="en-US" dirty="0"/>
              <a:t>Final Presentation </a:t>
            </a:r>
            <a:br>
              <a:rPr lang="en-US" dirty="0"/>
            </a:br>
            <a:endParaRPr lang="en-US" dirty="0"/>
          </a:p>
        </p:txBody>
      </p:sp>
      <p:sp>
        <p:nvSpPr>
          <p:cNvPr id="3" name="Subtitle 2">
            <a:extLst>
              <a:ext uri="{FF2B5EF4-FFF2-40B4-BE49-F238E27FC236}">
                <a16:creationId xmlns:a16="http://schemas.microsoft.com/office/drawing/2014/main" id="{3DA792E4-A2F3-8CC6-D794-09F0A72A124E}"/>
              </a:ext>
            </a:extLst>
          </p:cNvPr>
          <p:cNvSpPr>
            <a:spLocks noGrp="1"/>
          </p:cNvSpPr>
          <p:nvPr>
            <p:ph type="subTitle" idx="1"/>
          </p:nvPr>
        </p:nvSpPr>
        <p:spPr>
          <a:xfrm>
            <a:off x="4585334" y="5090466"/>
            <a:ext cx="6696951" cy="882904"/>
          </a:xfrm>
        </p:spPr>
        <p:txBody>
          <a:bodyPr>
            <a:normAutofit/>
          </a:bodyPr>
          <a:lstStyle/>
          <a:p>
            <a:r>
              <a:rPr lang="en-US" dirty="0"/>
              <a:t>By: Jordan Pangrazzi</a:t>
            </a:r>
          </a:p>
        </p:txBody>
      </p:sp>
    </p:spTree>
    <p:extLst>
      <p:ext uri="{BB962C8B-B14F-4D97-AF65-F5344CB8AC3E}">
        <p14:creationId xmlns:p14="http://schemas.microsoft.com/office/powerpoint/2010/main" val="38794671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E640F-0271-F5B8-C511-2EFEE3FC5FD4}"/>
              </a:ext>
            </a:extLst>
          </p:cNvPr>
          <p:cNvSpPr>
            <a:spLocks noGrp="1"/>
          </p:cNvSpPr>
          <p:nvPr>
            <p:ph type="title"/>
          </p:nvPr>
        </p:nvSpPr>
        <p:spPr>
          <a:xfrm>
            <a:off x="2611808" y="898196"/>
            <a:ext cx="7958331" cy="1077229"/>
          </a:xfrm>
        </p:spPr>
        <p:txBody>
          <a:bodyPr/>
          <a:lstStyle/>
          <a:p>
            <a:pPr algn="ctr"/>
            <a:r>
              <a:rPr lang="en-US" dirty="0"/>
              <a:t>Freelance QA Testing Service Business</a:t>
            </a:r>
          </a:p>
        </p:txBody>
      </p:sp>
      <p:sp>
        <p:nvSpPr>
          <p:cNvPr id="3" name="Content Placeholder 2">
            <a:extLst>
              <a:ext uri="{FF2B5EF4-FFF2-40B4-BE49-F238E27FC236}">
                <a16:creationId xmlns:a16="http://schemas.microsoft.com/office/drawing/2014/main" id="{E78093B8-1851-6026-89F4-94122656CA9C}"/>
              </a:ext>
            </a:extLst>
          </p:cNvPr>
          <p:cNvSpPr>
            <a:spLocks noGrp="1"/>
          </p:cNvSpPr>
          <p:nvPr>
            <p:ph idx="1"/>
          </p:nvPr>
        </p:nvSpPr>
        <p:spPr>
          <a:xfrm>
            <a:off x="2611808" y="2199394"/>
            <a:ext cx="7796540" cy="2459211"/>
          </a:xfrm>
        </p:spPr>
        <p:txBody>
          <a:bodyPr/>
          <a:lstStyle/>
          <a:p>
            <a:r>
              <a:rPr lang="en-US" dirty="0"/>
              <a:t>Many small businesses launch websites without proper testing Common issues: Broken links, Form Errors, Poor mobile responsiveness</a:t>
            </a:r>
          </a:p>
          <a:p>
            <a:r>
              <a:rPr lang="en-US" dirty="0"/>
              <a:t>These problems create a bad user experience and hurt credibility</a:t>
            </a:r>
          </a:p>
          <a:p>
            <a:pPr marL="0" indent="0">
              <a:buNone/>
            </a:pPr>
            <a:endParaRPr lang="en-US" dirty="0"/>
          </a:p>
          <a:p>
            <a:endParaRPr lang="en-US" dirty="0"/>
          </a:p>
        </p:txBody>
      </p:sp>
      <p:sp>
        <p:nvSpPr>
          <p:cNvPr id="4" name="TextBox 3">
            <a:extLst>
              <a:ext uri="{FF2B5EF4-FFF2-40B4-BE49-F238E27FC236}">
                <a16:creationId xmlns:a16="http://schemas.microsoft.com/office/drawing/2014/main" id="{2C521108-2D19-FECC-5000-4E3882AE88C8}"/>
              </a:ext>
            </a:extLst>
          </p:cNvPr>
          <p:cNvSpPr txBox="1"/>
          <p:nvPr/>
        </p:nvSpPr>
        <p:spPr>
          <a:xfrm>
            <a:off x="2799139" y="4444604"/>
            <a:ext cx="7421878" cy="1477328"/>
          </a:xfrm>
          <a:prstGeom prst="rect">
            <a:avLst/>
          </a:prstGeom>
          <a:noFill/>
        </p:spPr>
        <p:txBody>
          <a:bodyPr wrap="square" rtlCol="0">
            <a:spAutoFit/>
          </a:bodyPr>
          <a:lstStyle/>
          <a:p>
            <a:r>
              <a:rPr lang="en-US" dirty="0"/>
              <a:t>My businesses Purpose is to: </a:t>
            </a:r>
          </a:p>
          <a:p>
            <a:pPr marL="285750" indent="-285750">
              <a:buFont typeface="Arial" panose="020B0604020202020204" pitchFamily="34" charset="0"/>
              <a:buChar char="•"/>
            </a:pPr>
            <a:r>
              <a:rPr lang="en-US" dirty="0"/>
              <a:t>Provide affordable, reliable QA testing services </a:t>
            </a:r>
          </a:p>
          <a:p>
            <a:pPr marL="285750" indent="-285750">
              <a:buFont typeface="Arial" panose="020B0604020202020204" pitchFamily="34" charset="0"/>
              <a:buChar char="•"/>
            </a:pPr>
            <a:r>
              <a:rPr lang="en-US" dirty="0"/>
              <a:t>Help businesses launch reliable, user-friendly products by identifying and preventing critical defects before release</a:t>
            </a:r>
          </a:p>
          <a:p>
            <a:pPr marL="285750" indent="-285750">
              <a:buFont typeface="Arial" panose="020B0604020202020204" pitchFamily="34" charset="0"/>
              <a:buChar char="•"/>
            </a:pPr>
            <a:r>
              <a:rPr lang="en-US" dirty="0"/>
              <a:t>Deliver clear, actionable bug reports to improve performance</a:t>
            </a:r>
          </a:p>
        </p:txBody>
      </p:sp>
      <p:sp>
        <p:nvSpPr>
          <p:cNvPr id="5" name="TextBox 4">
            <a:extLst>
              <a:ext uri="{FF2B5EF4-FFF2-40B4-BE49-F238E27FC236}">
                <a16:creationId xmlns:a16="http://schemas.microsoft.com/office/drawing/2014/main" id="{94748B55-BE20-3721-749A-5318DC74645E}"/>
              </a:ext>
            </a:extLst>
          </p:cNvPr>
          <p:cNvSpPr txBox="1"/>
          <p:nvPr/>
        </p:nvSpPr>
        <p:spPr>
          <a:xfrm>
            <a:off x="420914" y="898196"/>
            <a:ext cx="217714" cy="4524315"/>
          </a:xfrm>
          <a:prstGeom prst="rect">
            <a:avLst/>
          </a:prstGeom>
          <a:noFill/>
        </p:spPr>
        <p:txBody>
          <a:bodyPr wrap="square" rtlCol="0">
            <a:spAutoFit/>
          </a:bodyPr>
          <a:lstStyle/>
          <a:p>
            <a:r>
              <a:rPr lang="en-US" dirty="0"/>
              <a:t>Initiating</a:t>
            </a:r>
          </a:p>
          <a:p>
            <a:r>
              <a:rPr lang="en-US" dirty="0"/>
              <a:t> </a:t>
            </a:r>
          </a:p>
          <a:p>
            <a:r>
              <a:rPr lang="en-US" dirty="0"/>
              <a:t>Phase</a:t>
            </a:r>
          </a:p>
        </p:txBody>
      </p:sp>
    </p:spTree>
    <p:extLst>
      <p:ext uri="{BB962C8B-B14F-4D97-AF65-F5344CB8AC3E}">
        <p14:creationId xmlns:p14="http://schemas.microsoft.com/office/powerpoint/2010/main" val="3631099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CBDE8-8B62-20AF-5EFC-5A918AF36350}"/>
              </a:ext>
            </a:extLst>
          </p:cNvPr>
          <p:cNvSpPr>
            <a:spLocks noGrp="1"/>
          </p:cNvSpPr>
          <p:nvPr>
            <p:ph type="title"/>
          </p:nvPr>
        </p:nvSpPr>
        <p:spPr/>
        <p:txBody>
          <a:bodyPr/>
          <a:lstStyle/>
          <a:p>
            <a:pPr algn="ctr"/>
            <a:r>
              <a:rPr lang="en-US" dirty="0"/>
              <a:t>Objectives</a:t>
            </a:r>
          </a:p>
        </p:txBody>
      </p:sp>
      <p:sp>
        <p:nvSpPr>
          <p:cNvPr id="3" name="Content Placeholder 2">
            <a:extLst>
              <a:ext uri="{FF2B5EF4-FFF2-40B4-BE49-F238E27FC236}">
                <a16:creationId xmlns:a16="http://schemas.microsoft.com/office/drawing/2014/main" id="{9028BA0B-DE18-B22D-A93A-D74C73F19DFC}"/>
              </a:ext>
            </a:extLst>
          </p:cNvPr>
          <p:cNvSpPr>
            <a:spLocks noGrp="1"/>
          </p:cNvSpPr>
          <p:nvPr>
            <p:ph idx="1"/>
          </p:nvPr>
        </p:nvSpPr>
        <p:spPr>
          <a:xfrm>
            <a:off x="2773599" y="1885285"/>
            <a:ext cx="7796540" cy="3997828"/>
          </a:xfrm>
        </p:spPr>
        <p:txBody>
          <a:bodyPr>
            <a:normAutofit fontScale="92500"/>
          </a:bodyPr>
          <a:lstStyle/>
          <a:p>
            <a:r>
              <a:rPr lang="en-US" dirty="0"/>
              <a:t>Launch within 6 months </a:t>
            </a:r>
          </a:p>
          <a:p>
            <a:r>
              <a:rPr lang="en-US" dirty="0"/>
              <a:t>Generate initial revenue &amp; build a client base</a:t>
            </a:r>
          </a:p>
          <a:p>
            <a:r>
              <a:rPr lang="en-US" dirty="0"/>
              <a:t> Develop real-world QA testing and defect reporting experience in a simulated client environment</a:t>
            </a:r>
          </a:p>
          <a:p>
            <a:r>
              <a:rPr lang="en-US" dirty="0"/>
              <a:t>Offer: Website app bug testing along with usability &amp; mobile responsiveness testing. </a:t>
            </a:r>
          </a:p>
          <a:p>
            <a:r>
              <a:rPr lang="en-US" dirty="0"/>
              <a:t>Start-up Goal: Low-cost pricing to attract clients and build referrals</a:t>
            </a:r>
          </a:p>
          <a:p>
            <a:r>
              <a:rPr lang="en-US" dirty="0"/>
              <a:t>Long-term Goal: Scale into a larger business with more testers</a:t>
            </a:r>
          </a:p>
        </p:txBody>
      </p:sp>
      <p:sp>
        <p:nvSpPr>
          <p:cNvPr id="4" name="TextBox 3">
            <a:extLst>
              <a:ext uri="{FF2B5EF4-FFF2-40B4-BE49-F238E27FC236}">
                <a16:creationId xmlns:a16="http://schemas.microsoft.com/office/drawing/2014/main" id="{7845A93D-7070-FD3C-76B4-2EEBEE368BC6}"/>
              </a:ext>
            </a:extLst>
          </p:cNvPr>
          <p:cNvSpPr txBox="1"/>
          <p:nvPr/>
        </p:nvSpPr>
        <p:spPr>
          <a:xfrm>
            <a:off x="420914" y="898196"/>
            <a:ext cx="217714" cy="4524315"/>
          </a:xfrm>
          <a:prstGeom prst="rect">
            <a:avLst/>
          </a:prstGeom>
          <a:noFill/>
        </p:spPr>
        <p:txBody>
          <a:bodyPr wrap="square" rtlCol="0">
            <a:spAutoFit/>
          </a:bodyPr>
          <a:lstStyle/>
          <a:p>
            <a:r>
              <a:rPr lang="en-US" dirty="0"/>
              <a:t>Initiating</a:t>
            </a:r>
          </a:p>
          <a:p>
            <a:r>
              <a:rPr lang="en-US" dirty="0"/>
              <a:t> </a:t>
            </a:r>
          </a:p>
          <a:p>
            <a:r>
              <a:rPr lang="en-US" dirty="0"/>
              <a:t>Phase</a:t>
            </a:r>
          </a:p>
        </p:txBody>
      </p:sp>
    </p:spTree>
    <p:extLst>
      <p:ext uri="{BB962C8B-B14F-4D97-AF65-F5344CB8AC3E}">
        <p14:creationId xmlns:p14="http://schemas.microsoft.com/office/powerpoint/2010/main" val="2636027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B136A-A87B-E916-641A-418CBDED46AE}"/>
              </a:ext>
            </a:extLst>
          </p:cNvPr>
          <p:cNvSpPr>
            <a:spLocks noGrp="1"/>
          </p:cNvSpPr>
          <p:nvPr>
            <p:ph type="title"/>
          </p:nvPr>
        </p:nvSpPr>
        <p:spPr>
          <a:xfrm>
            <a:off x="-1108280" y="140791"/>
            <a:ext cx="7958331" cy="1077229"/>
          </a:xfrm>
        </p:spPr>
        <p:txBody>
          <a:bodyPr/>
          <a:lstStyle/>
          <a:p>
            <a:pPr algn="ctr"/>
            <a:r>
              <a:rPr lang="en-US" dirty="0"/>
              <a:t>Stakeholders</a:t>
            </a:r>
          </a:p>
        </p:txBody>
      </p:sp>
      <p:sp>
        <p:nvSpPr>
          <p:cNvPr id="3" name="Content Placeholder 2">
            <a:extLst>
              <a:ext uri="{FF2B5EF4-FFF2-40B4-BE49-F238E27FC236}">
                <a16:creationId xmlns:a16="http://schemas.microsoft.com/office/drawing/2014/main" id="{C837221C-0624-8F1B-6964-5530259370E6}"/>
              </a:ext>
            </a:extLst>
          </p:cNvPr>
          <p:cNvSpPr>
            <a:spLocks noGrp="1"/>
          </p:cNvSpPr>
          <p:nvPr>
            <p:ph idx="1"/>
          </p:nvPr>
        </p:nvSpPr>
        <p:spPr>
          <a:xfrm>
            <a:off x="1228155" y="3330146"/>
            <a:ext cx="8933505" cy="3968047"/>
          </a:xfrm>
        </p:spPr>
        <p:txBody>
          <a:bodyPr>
            <a:normAutofit/>
          </a:bodyPr>
          <a:lstStyle/>
          <a:p>
            <a:r>
              <a:rPr lang="en-US" sz="1600" b="1" dirty="0"/>
              <a:t>Founder/QA Lead: Jordan Pangrazzi, contactable via email</a:t>
            </a:r>
          </a:p>
          <a:p>
            <a:r>
              <a:rPr lang="en-US" sz="1600" b="1" dirty="0"/>
              <a:t>Small Business clients are an external stakeholder as these are companies that want their site tested by us.</a:t>
            </a:r>
          </a:p>
          <a:p>
            <a:r>
              <a:rPr lang="en-US" sz="1600" b="1" dirty="0"/>
              <a:t>End Users (customers interacting with client applications) are another external stakeholder as these users will be visiting companies websites and apps so we have to consider their input while testing.</a:t>
            </a:r>
          </a:p>
          <a:p>
            <a:r>
              <a:rPr lang="en-US" sz="1600" b="1" dirty="0"/>
              <a:t>Our marketing and sales directors are internal stakeholders responsible for their respective roles.</a:t>
            </a:r>
          </a:p>
        </p:txBody>
      </p:sp>
      <p:sp>
        <p:nvSpPr>
          <p:cNvPr id="4" name="TextBox 3">
            <a:extLst>
              <a:ext uri="{FF2B5EF4-FFF2-40B4-BE49-F238E27FC236}">
                <a16:creationId xmlns:a16="http://schemas.microsoft.com/office/drawing/2014/main" id="{674B0922-AA14-D991-8D5E-80A62ED55A91}"/>
              </a:ext>
            </a:extLst>
          </p:cNvPr>
          <p:cNvSpPr txBox="1"/>
          <p:nvPr/>
        </p:nvSpPr>
        <p:spPr>
          <a:xfrm>
            <a:off x="420914" y="898196"/>
            <a:ext cx="217714" cy="4524315"/>
          </a:xfrm>
          <a:prstGeom prst="rect">
            <a:avLst/>
          </a:prstGeom>
          <a:noFill/>
        </p:spPr>
        <p:txBody>
          <a:bodyPr wrap="square" rtlCol="0">
            <a:spAutoFit/>
          </a:bodyPr>
          <a:lstStyle/>
          <a:p>
            <a:r>
              <a:rPr lang="en-US" dirty="0"/>
              <a:t>Initiating</a:t>
            </a:r>
          </a:p>
          <a:p>
            <a:r>
              <a:rPr lang="en-US" dirty="0"/>
              <a:t> </a:t>
            </a:r>
          </a:p>
          <a:p>
            <a:r>
              <a:rPr lang="en-US" dirty="0"/>
              <a:t>Phase</a:t>
            </a:r>
          </a:p>
        </p:txBody>
      </p:sp>
      <p:pic>
        <p:nvPicPr>
          <p:cNvPr id="7" name="Picture 6" descr="A table with text on it&#10;&#10;AI-generated content may be incorrect.">
            <a:extLst>
              <a:ext uri="{FF2B5EF4-FFF2-40B4-BE49-F238E27FC236}">
                <a16:creationId xmlns:a16="http://schemas.microsoft.com/office/drawing/2014/main" id="{3EC1358A-A180-54D7-009E-069C2CD79FEB}"/>
              </a:ext>
            </a:extLst>
          </p:cNvPr>
          <p:cNvPicPr>
            <a:picLocks noChangeAspect="1"/>
          </p:cNvPicPr>
          <p:nvPr/>
        </p:nvPicPr>
        <p:blipFill>
          <a:blip r:embed="rId2"/>
          <a:stretch>
            <a:fillRect/>
          </a:stretch>
        </p:blipFill>
        <p:spPr>
          <a:xfrm>
            <a:off x="1367745" y="699111"/>
            <a:ext cx="9268931" cy="3168554"/>
          </a:xfrm>
          <a:prstGeom prst="rect">
            <a:avLst/>
          </a:prstGeom>
        </p:spPr>
      </p:pic>
    </p:spTree>
    <p:extLst>
      <p:ext uri="{BB962C8B-B14F-4D97-AF65-F5344CB8AC3E}">
        <p14:creationId xmlns:p14="http://schemas.microsoft.com/office/powerpoint/2010/main" val="1232674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50FD1-D864-8181-AB9D-9416B55712D6}"/>
              </a:ext>
            </a:extLst>
          </p:cNvPr>
          <p:cNvSpPr>
            <a:spLocks noGrp="1"/>
          </p:cNvSpPr>
          <p:nvPr>
            <p:ph type="title"/>
          </p:nvPr>
        </p:nvSpPr>
        <p:spPr>
          <a:xfrm>
            <a:off x="4885449" y="359581"/>
            <a:ext cx="7958331" cy="1077229"/>
          </a:xfrm>
        </p:spPr>
        <p:txBody>
          <a:bodyPr>
            <a:normAutofit fontScale="90000"/>
          </a:bodyPr>
          <a:lstStyle/>
          <a:p>
            <a:pPr algn="ctr"/>
            <a:r>
              <a:rPr lang="en-US" dirty="0"/>
              <a:t>WBS</a:t>
            </a:r>
            <a:br>
              <a:rPr lang="en-US" dirty="0"/>
            </a:br>
            <a:r>
              <a:rPr lang="en-US" sz="1800" dirty="0"/>
              <a:t>Initiating Phase: </a:t>
            </a:r>
            <a:br>
              <a:rPr lang="en-US" sz="1800" dirty="0"/>
            </a:br>
            <a:r>
              <a:rPr lang="en-US" sz="1800" dirty="0"/>
              <a:t>Company Kick off meeting, research our testing </a:t>
            </a:r>
            <a:br>
              <a:rPr lang="en-US" sz="1800" dirty="0"/>
            </a:br>
            <a:r>
              <a:rPr lang="en-US" sz="1800" dirty="0"/>
              <a:t>competition(especially local businesses),</a:t>
            </a:r>
            <a:br>
              <a:rPr lang="en-US" sz="1800" dirty="0"/>
            </a:br>
            <a:r>
              <a:rPr lang="en-US" sz="1800" dirty="0"/>
              <a:t> and identifying our target demographics clients.</a:t>
            </a:r>
            <a:br>
              <a:rPr lang="en-US" sz="1800" dirty="0"/>
            </a:br>
            <a:br>
              <a:rPr lang="en-US" sz="1800" dirty="0"/>
            </a:br>
            <a:r>
              <a:rPr lang="en-US" sz="1800" dirty="0"/>
              <a:t>Planning Phase:</a:t>
            </a:r>
            <a:br>
              <a:rPr lang="en-US" sz="1800" dirty="0"/>
            </a:br>
            <a:r>
              <a:rPr lang="en-US" sz="1800" dirty="0"/>
              <a:t>Set pricing, select which testing tools we will use, </a:t>
            </a:r>
            <a:br>
              <a:rPr lang="en-US" sz="1800" dirty="0"/>
            </a:br>
            <a:r>
              <a:rPr lang="en-US" sz="1800" dirty="0"/>
              <a:t>and budget planning/estimates to ensure we can</a:t>
            </a:r>
            <a:br>
              <a:rPr lang="en-US" sz="1800" dirty="0"/>
            </a:br>
            <a:r>
              <a:rPr lang="en-US" sz="1800" dirty="0"/>
              <a:t>be profitable.</a:t>
            </a:r>
            <a:br>
              <a:rPr lang="en-US" sz="1800" dirty="0"/>
            </a:br>
            <a:br>
              <a:rPr lang="en-US" sz="1800" dirty="0"/>
            </a:br>
            <a:r>
              <a:rPr lang="en-US" sz="1800" dirty="0"/>
              <a:t>Executing Phase:</a:t>
            </a:r>
            <a:br>
              <a:rPr lang="en-US" sz="1800" dirty="0"/>
            </a:br>
            <a:r>
              <a:rPr lang="en-US" sz="1800" dirty="0"/>
              <a:t>Build our testing landing page, purchase domain &amp; </a:t>
            </a:r>
            <a:br>
              <a:rPr lang="en-US" sz="1800" dirty="0"/>
            </a:br>
            <a:r>
              <a:rPr lang="en-US" sz="1800" dirty="0"/>
              <a:t>hosting. Design our company website, Set up </a:t>
            </a:r>
            <a:br>
              <a:rPr lang="en-US" sz="1800" dirty="0"/>
            </a:br>
            <a:r>
              <a:rPr lang="en-US" sz="1800" dirty="0"/>
              <a:t>Playwright. Write Automated test scripts, Execute QA</a:t>
            </a:r>
            <a:br>
              <a:rPr lang="en-US" sz="1800" dirty="0"/>
            </a:br>
            <a:r>
              <a:rPr lang="en-US" sz="1800" dirty="0"/>
              <a:t> test cases and validation workflows using Playwright, </a:t>
            </a:r>
            <a:br>
              <a:rPr lang="en-US" sz="1800" dirty="0"/>
            </a:br>
            <a:r>
              <a:rPr lang="en-US" sz="1800" dirty="0"/>
              <a:t>and focus group testing for practice  &amp; feedback.</a:t>
            </a:r>
            <a:br>
              <a:rPr lang="en-US" sz="1800" dirty="0"/>
            </a:br>
            <a:br>
              <a:rPr lang="en-US" sz="1800" dirty="0"/>
            </a:br>
            <a:r>
              <a:rPr lang="en-US" sz="1800" dirty="0"/>
              <a:t>Monitoring &amp; Controlling Phase: </a:t>
            </a:r>
            <a:br>
              <a:rPr lang="en-US" sz="1800" dirty="0"/>
            </a:br>
            <a:r>
              <a:rPr lang="en-US" sz="1800" dirty="0"/>
              <a:t>Review practice test feedback &amp; then improve services</a:t>
            </a:r>
            <a:br>
              <a:rPr lang="en-US" sz="1800" dirty="0"/>
            </a:br>
            <a:br>
              <a:rPr lang="en-US" sz="1800" dirty="0"/>
            </a:br>
            <a:r>
              <a:rPr lang="en-US" sz="1800" dirty="0"/>
              <a:t>Closing:</a:t>
            </a:r>
            <a:br>
              <a:rPr lang="en-US" sz="1800" dirty="0"/>
            </a:br>
            <a:r>
              <a:rPr lang="en-US" sz="1800" dirty="0"/>
              <a:t>Finalize business readiness (get as market ready </a:t>
            </a:r>
            <a:br>
              <a:rPr lang="en-US" sz="1800" dirty="0"/>
            </a:br>
            <a:r>
              <a:rPr lang="en-US" sz="1800" dirty="0"/>
              <a:t>as possible) and then Launch QA testing service!</a:t>
            </a:r>
            <a:br>
              <a:rPr lang="en-US" sz="1800" dirty="0"/>
            </a:br>
            <a:br>
              <a:rPr lang="en-US" sz="1800" dirty="0"/>
            </a:br>
            <a:r>
              <a:rPr lang="en-US" sz="3100" dirty="0"/>
              <a:t>Goal: 6 months process</a:t>
            </a:r>
            <a:br>
              <a:rPr lang="en-US" sz="1400" dirty="0"/>
            </a:br>
            <a:endParaRPr lang="en-US" sz="1400" dirty="0"/>
          </a:p>
        </p:txBody>
      </p:sp>
      <p:pic>
        <p:nvPicPr>
          <p:cNvPr id="5" name="Content Placeholder 4" descr="A screenshot of a calendar&#10;&#10;AI-generated content may be incorrect.">
            <a:extLst>
              <a:ext uri="{FF2B5EF4-FFF2-40B4-BE49-F238E27FC236}">
                <a16:creationId xmlns:a16="http://schemas.microsoft.com/office/drawing/2014/main" id="{F2ABF5BB-488A-2D3B-DC94-B1430ED207E5}"/>
              </a:ext>
            </a:extLst>
          </p:cNvPr>
          <p:cNvPicPr>
            <a:picLocks noGrp="1" noChangeAspect="1"/>
          </p:cNvPicPr>
          <p:nvPr>
            <p:ph idx="1"/>
          </p:nvPr>
        </p:nvPicPr>
        <p:blipFill>
          <a:blip r:embed="rId3"/>
          <a:stretch>
            <a:fillRect/>
          </a:stretch>
        </p:blipFill>
        <p:spPr>
          <a:xfrm>
            <a:off x="1393762" y="238904"/>
            <a:ext cx="4934465" cy="6380192"/>
          </a:xfrm>
        </p:spPr>
      </p:pic>
      <p:sp>
        <p:nvSpPr>
          <p:cNvPr id="6" name="TextBox 5">
            <a:extLst>
              <a:ext uri="{FF2B5EF4-FFF2-40B4-BE49-F238E27FC236}">
                <a16:creationId xmlns:a16="http://schemas.microsoft.com/office/drawing/2014/main" id="{3F0DA100-C6AF-833C-7A7A-1F8FC19A9B0A}"/>
              </a:ext>
            </a:extLst>
          </p:cNvPr>
          <p:cNvSpPr txBox="1"/>
          <p:nvPr/>
        </p:nvSpPr>
        <p:spPr>
          <a:xfrm>
            <a:off x="420914" y="898196"/>
            <a:ext cx="217714" cy="3970318"/>
          </a:xfrm>
          <a:prstGeom prst="rect">
            <a:avLst/>
          </a:prstGeom>
          <a:noFill/>
        </p:spPr>
        <p:txBody>
          <a:bodyPr wrap="square" rtlCol="0">
            <a:spAutoFit/>
          </a:bodyPr>
          <a:lstStyle/>
          <a:p>
            <a:r>
              <a:rPr lang="en-US" dirty="0"/>
              <a:t>Planning</a:t>
            </a:r>
          </a:p>
          <a:p>
            <a:r>
              <a:rPr lang="en-US" dirty="0"/>
              <a:t> </a:t>
            </a:r>
          </a:p>
          <a:p>
            <a:r>
              <a:rPr lang="en-US" dirty="0"/>
              <a:t>Phase</a:t>
            </a:r>
          </a:p>
        </p:txBody>
      </p:sp>
    </p:spTree>
    <p:extLst>
      <p:ext uri="{BB962C8B-B14F-4D97-AF65-F5344CB8AC3E}">
        <p14:creationId xmlns:p14="http://schemas.microsoft.com/office/powerpoint/2010/main" val="3731757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1E86-D4BC-001B-545F-07B49D973806}"/>
              </a:ext>
            </a:extLst>
          </p:cNvPr>
          <p:cNvSpPr>
            <a:spLocks noGrp="1"/>
          </p:cNvSpPr>
          <p:nvPr>
            <p:ph type="title"/>
          </p:nvPr>
        </p:nvSpPr>
        <p:spPr>
          <a:xfrm>
            <a:off x="2116834" y="343599"/>
            <a:ext cx="7958331" cy="1077229"/>
          </a:xfrm>
        </p:spPr>
        <p:txBody>
          <a:bodyPr/>
          <a:lstStyle/>
          <a:p>
            <a:pPr algn="ctr"/>
            <a:r>
              <a:rPr lang="en-US" dirty="0"/>
              <a:t>Budget</a:t>
            </a:r>
          </a:p>
        </p:txBody>
      </p:sp>
      <p:pic>
        <p:nvPicPr>
          <p:cNvPr id="5" name="Picture 4" descr="A document with text on it&#10;&#10;AI-generated content may be incorrect.">
            <a:extLst>
              <a:ext uri="{FF2B5EF4-FFF2-40B4-BE49-F238E27FC236}">
                <a16:creationId xmlns:a16="http://schemas.microsoft.com/office/drawing/2014/main" id="{86A252F3-7975-9491-491D-F6E82DB8C658}"/>
              </a:ext>
            </a:extLst>
          </p:cNvPr>
          <p:cNvPicPr>
            <a:picLocks noChangeAspect="1"/>
          </p:cNvPicPr>
          <p:nvPr/>
        </p:nvPicPr>
        <p:blipFill>
          <a:blip r:embed="rId2"/>
          <a:stretch>
            <a:fillRect/>
          </a:stretch>
        </p:blipFill>
        <p:spPr>
          <a:xfrm>
            <a:off x="1059542" y="898196"/>
            <a:ext cx="6563223" cy="5714530"/>
          </a:xfrm>
          <a:prstGeom prst="rect">
            <a:avLst/>
          </a:prstGeom>
        </p:spPr>
      </p:pic>
      <p:sp>
        <p:nvSpPr>
          <p:cNvPr id="6" name="TextBox 5">
            <a:extLst>
              <a:ext uri="{FF2B5EF4-FFF2-40B4-BE49-F238E27FC236}">
                <a16:creationId xmlns:a16="http://schemas.microsoft.com/office/drawing/2014/main" id="{A2A059B1-B223-323C-BC5C-5FDE467A3A3C}"/>
              </a:ext>
            </a:extLst>
          </p:cNvPr>
          <p:cNvSpPr txBox="1"/>
          <p:nvPr/>
        </p:nvSpPr>
        <p:spPr>
          <a:xfrm>
            <a:off x="7762986" y="754639"/>
            <a:ext cx="3265714" cy="6001643"/>
          </a:xfrm>
          <a:prstGeom prst="rect">
            <a:avLst/>
          </a:prstGeom>
          <a:noFill/>
        </p:spPr>
        <p:txBody>
          <a:bodyPr wrap="square" rtlCol="0">
            <a:spAutoFit/>
          </a:bodyPr>
          <a:lstStyle/>
          <a:p>
            <a:endParaRPr lang="en-US" sz="1600" dirty="0"/>
          </a:p>
          <a:p>
            <a:r>
              <a:rPr lang="en-US" sz="1600" dirty="0"/>
              <a:t>This is beginning as a Solo Freelance business with no other employees but planning to have a marketing and sales team within 6 months after we launch, and they will be added to this budget plan at that time.</a:t>
            </a:r>
          </a:p>
          <a:p>
            <a:endParaRPr lang="en-US" sz="1600" dirty="0"/>
          </a:p>
          <a:p>
            <a:endParaRPr lang="en-US" sz="1600" dirty="0"/>
          </a:p>
          <a:p>
            <a:r>
              <a:rPr lang="en-US" sz="1600" dirty="0"/>
              <a:t>No outsourced labor to keep costs minimal. Will be building my own company webpage. Website and domain hosting will be a paid service through </a:t>
            </a:r>
            <a:r>
              <a:rPr lang="en-US" sz="1600" dirty="0" err="1"/>
              <a:t>Hostingers</a:t>
            </a:r>
            <a:r>
              <a:rPr lang="en-US" sz="1600" dirty="0"/>
              <a:t> platform. Playwright is a free testing tool that we will use.</a:t>
            </a:r>
          </a:p>
          <a:p>
            <a:endParaRPr lang="en-US" sz="1600" dirty="0"/>
          </a:p>
          <a:p>
            <a:endParaRPr lang="en-US" sz="1600" dirty="0"/>
          </a:p>
          <a:p>
            <a:r>
              <a:rPr lang="en-US" sz="1600" dirty="0"/>
              <a:t>Internet, utilities, &amp; other indirect costs part of my personal expenses because I will be operating out of my home (no office)</a:t>
            </a:r>
          </a:p>
        </p:txBody>
      </p:sp>
      <p:sp>
        <p:nvSpPr>
          <p:cNvPr id="7" name="TextBox 6">
            <a:extLst>
              <a:ext uri="{FF2B5EF4-FFF2-40B4-BE49-F238E27FC236}">
                <a16:creationId xmlns:a16="http://schemas.microsoft.com/office/drawing/2014/main" id="{78DFC08D-4C8F-5BDA-C7F8-869204FFA9F8}"/>
              </a:ext>
            </a:extLst>
          </p:cNvPr>
          <p:cNvSpPr txBox="1"/>
          <p:nvPr/>
        </p:nvSpPr>
        <p:spPr>
          <a:xfrm>
            <a:off x="420914" y="898196"/>
            <a:ext cx="217714" cy="3970318"/>
          </a:xfrm>
          <a:prstGeom prst="rect">
            <a:avLst/>
          </a:prstGeom>
          <a:noFill/>
        </p:spPr>
        <p:txBody>
          <a:bodyPr wrap="square" rtlCol="0">
            <a:spAutoFit/>
          </a:bodyPr>
          <a:lstStyle/>
          <a:p>
            <a:r>
              <a:rPr lang="en-US" dirty="0"/>
              <a:t>Planning</a:t>
            </a:r>
          </a:p>
          <a:p>
            <a:r>
              <a:rPr lang="en-US" dirty="0"/>
              <a:t> </a:t>
            </a:r>
          </a:p>
          <a:p>
            <a:r>
              <a:rPr lang="en-US" dirty="0"/>
              <a:t>Phase</a:t>
            </a:r>
          </a:p>
        </p:txBody>
      </p:sp>
    </p:spTree>
    <p:extLst>
      <p:ext uri="{BB962C8B-B14F-4D97-AF65-F5344CB8AC3E}">
        <p14:creationId xmlns:p14="http://schemas.microsoft.com/office/powerpoint/2010/main" val="1103666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093C-65AD-2253-FD1F-6CDC1CA91E7A}"/>
              </a:ext>
            </a:extLst>
          </p:cNvPr>
          <p:cNvSpPr>
            <a:spLocks noGrp="1"/>
          </p:cNvSpPr>
          <p:nvPr>
            <p:ph type="title"/>
          </p:nvPr>
        </p:nvSpPr>
        <p:spPr>
          <a:xfrm>
            <a:off x="2116834" y="301174"/>
            <a:ext cx="7958331" cy="1077229"/>
          </a:xfrm>
        </p:spPr>
        <p:txBody>
          <a:bodyPr/>
          <a:lstStyle/>
          <a:p>
            <a:pPr algn="ctr"/>
            <a:r>
              <a:rPr lang="en-US" dirty="0"/>
              <a:t>Financial Analysis</a:t>
            </a:r>
          </a:p>
        </p:txBody>
      </p:sp>
      <p:pic>
        <p:nvPicPr>
          <p:cNvPr id="9" name="Content Placeholder 8" descr="A screenshot of a spreadsheet&#10;&#10;AI-generated content may be incorrect.">
            <a:extLst>
              <a:ext uri="{FF2B5EF4-FFF2-40B4-BE49-F238E27FC236}">
                <a16:creationId xmlns:a16="http://schemas.microsoft.com/office/drawing/2014/main" id="{12791775-E918-21E0-3E1C-5950818EA32A}"/>
              </a:ext>
            </a:extLst>
          </p:cNvPr>
          <p:cNvPicPr>
            <a:picLocks noGrp="1" noChangeAspect="1"/>
          </p:cNvPicPr>
          <p:nvPr>
            <p:ph idx="1"/>
          </p:nvPr>
        </p:nvPicPr>
        <p:blipFill>
          <a:blip r:embed="rId2"/>
          <a:stretch>
            <a:fillRect/>
          </a:stretch>
        </p:blipFill>
        <p:spPr>
          <a:xfrm>
            <a:off x="1491068" y="898196"/>
            <a:ext cx="8967942" cy="4101193"/>
          </a:xfrm>
        </p:spPr>
      </p:pic>
      <p:sp>
        <p:nvSpPr>
          <p:cNvPr id="10" name="TextBox 9">
            <a:extLst>
              <a:ext uri="{FF2B5EF4-FFF2-40B4-BE49-F238E27FC236}">
                <a16:creationId xmlns:a16="http://schemas.microsoft.com/office/drawing/2014/main" id="{D42EF79F-29B3-1FE9-D8EA-FE2D45CB44ED}"/>
              </a:ext>
            </a:extLst>
          </p:cNvPr>
          <p:cNvSpPr txBox="1"/>
          <p:nvPr/>
        </p:nvSpPr>
        <p:spPr>
          <a:xfrm>
            <a:off x="420914" y="898196"/>
            <a:ext cx="217714" cy="3970318"/>
          </a:xfrm>
          <a:prstGeom prst="rect">
            <a:avLst/>
          </a:prstGeom>
          <a:noFill/>
        </p:spPr>
        <p:txBody>
          <a:bodyPr wrap="square" rtlCol="0">
            <a:spAutoFit/>
          </a:bodyPr>
          <a:lstStyle/>
          <a:p>
            <a:r>
              <a:rPr lang="en-US" dirty="0"/>
              <a:t>Planning</a:t>
            </a:r>
          </a:p>
          <a:p>
            <a:r>
              <a:rPr lang="en-US" dirty="0"/>
              <a:t> </a:t>
            </a:r>
          </a:p>
          <a:p>
            <a:r>
              <a:rPr lang="en-US" dirty="0"/>
              <a:t>Phase</a:t>
            </a:r>
          </a:p>
        </p:txBody>
      </p:sp>
      <p:sp>
        <p:nvSpPr>
          <p:cNvPr id="11" name="TextBox 10">
            <a:extLst>
              <a:ext uri="{FF2B5EF4-FFF2-40B4-BE49-F238E27FC236}">
                <a16:creationId xmlns:a16="http://schemas.microsoft.com/office/drawing/2014/main" id="{C129B100-2A9E-AC62-D59A-473F2FACA92A}"/>
              </a:ext>
            </a:extLst>
          </p:cNvPr>
          <p:cNvSpPr txBox="1"/>
          <p:nvPr/>
        </p:nvSpPr>
        <p:spPr>
          <a:xfrm>
            <a:off x="1491068" y="5181495"/>
            <a:ext cx="8637373" cy="1200329"/>
          </a:xfrm>
          <a:prstGeom prst="rect">
            <a:avLst/>
          </a:prstGeom>
          <a:noFill/>
        </p:spPr>
        <p:txBody>
          <a:bodyPr wrap="square" rtlCol="0">
            <a:spAutoFit/>
          </a:bodyPr>
          <a:lstStyle/>
          <a:p>
            <a:r>
              <a:rPr lang="en-US" dirty="0"/>
              <a:t>This business is a low overhead startup since our testing tools are free and it’s a solo operated venture to begin, so there’s a realistic possibility of a 685% ROI year 1. This demonstrates strong potential for early-stage profitability due to low overhead and tool efficiency. </a:t>
            </a:r>
          </a:p>
        </p:txBody>
      </p:sp>
    </p:spTree>
    <p:extLst>
      <p:ext uri="{BB962C8B-B14F-4D97-AF65-F5344CB8AC3E}">
        <p14:creationId xmlns:p14="http://schemas.microsoft.com/office/powerpoint/2010/main" val="1617797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C4306-B84A-8206-F174-307384A84DF9}"/>
              </a:ext>
            </a:extLst>
          </p:cNvPr>
          <p:cNvSpPr>
            <a:spLocks noGrp="1"/>
          </p:cNvSpPr>
          <p:nvPr>
            <p:ph type="title"/>
          </p:nvPr>
        </p:nvSpPr>
        <p:spPr/>
        <p:txBody>
          <a:bodyPr/>
          <a:lstStyle/>
          <a:p>
            <a:endParaRPr lang="en-US" dirty="0"/>
          </a:p>
        </p:txBody>
      </p:sp>
      <p:pic>
        <p:nvPicPr>
          <p:cNvPr id="6" name="Content Placeholder 5" descr="A table with text on it&#10;&#10;AI-generated content may be incorrect.">
            <a:extLst>
              <a:ext uri="{FF2B5EF4-FFF2-40B4-BE49-F238E27FC236}">
                <a16:creationId xmlns:a16="http://schemas.microsoft.com/office/drawing/2014/main" id="{2326A8AD-BB0F-5E98-6CEA-2B9BE9394E34}"/>
              </a:ext>
            </a:extLst>
          </p:cNvPr>
          <p:cNvPicPr>
            <a:picLocks noGrp="1" noChangeAspect="1"/>
          </p:cNvPicPr>
          <p:nvPr>
            <p:ph idx="1"/>
          </p:nvPr>
        </p:nvPicPr>
        <p:blipFill>
          <a:blip r:embed="rId2"/>
          <a:stretch>
            <a:fillRect/>
          </a:stretch>
        </p:blipFill>
        <p:spPr>
          <a:xfrm>
            <a:off x="1209520" y="403722"/>
            <a:ext cx="9360619" cy="3587854"/>
          </a:xfrm>
        </p:spPr>
      </p:pic>
      <p:sp>
        <p:nvSpPr>
          <p:cNvPr id="4" name="TextBox 3">
            <a:extLst>
              <a:ext uri="{FF2B5EF4-FFF2-40B4-BE49-F238E27FC236}">
                <a16:creationId xmlns:a16="http://schemas.microsoft.com/office/drawing/2014/main" id="{847EEBCB-B68C-743D-12C5-E9E2127E4257}"/>
              </a:ext>
            </a:extLst>
          </p:cNvPr>
          <p:cNvSpPr txBox="1"/>
          <p:nvPr/>
        </p:nvSpPr>
        <p:spPr>
          <a:xfrm>
            <a:off x="420914" y="898196"/>
            <a:ext cx="217714" cy="3970318"/>
          </a:xfrm>
          <a:prstGeom prst="rect">
            <a:avLst/>
          </a:prstGeom>
          <a:noFill/>
        </p:spPr>
        <p:txBody>
          <a:bodyPr wrap="square" rtlCol="0">
            <a:spAutoFit/>
          </a:bodyPr>
          <a:lstStyle/>
          <a:p>
            <a:r>
              <a:rPr lang="en-US" dirty="0"/>
              <a:t>Planning</a:t>
            </a:r>
          </a:p>
          <a:p>
            <a:r>
              <a:rPr lang="en-US" dirty="0"/>
              <a:t> </a:t>
            </a:r>
          </a:p>
          <a:p>
            <a:r>
              <a:rPr lang="en-US" dirty="0"/>
              <a:t>Phase</a:t>
            </a:r>
          </a:p>
        </p:txBody>
      </p:sp>
      <p:sp>
        <p:nvSpPr>
          <p:cNvPr id="7" name="TextBox 6">
            <a:extLst>
              <a:ext uri="{FF2B5EF4-FFF2-40B4-BE49-F238E27FC236}">
                <a16:creationId xmlns:a16="http://schemas.microsoft.com/office/drawing/2014/main" id="{7C214164-11A1-BFA0-49EF-D3F5C0C6031F}"/>
              </a:ext>
            </a:extLst>
          </p:cNvPr>
          <p:cNvSpPr txBox="1"/>
          <p:nvPr/>
        </p:nvSpPr>
        <p:spPr>
          <a:xfrm>
            <a:off x="1470454" y="4151870"/>
            <a:ext cx="8909222" cy="3139321"/>
          </a:xfrm>
          <a:prstGeom prst="rect">
            <a:avLst/>
          </a:prstGeom>
          <a:noFill/>
        </p:spPr>
        <p:txBody>
          <a:bodyPr wrap="square" rtlCol="0">
            <a:spAutoFit/>
          </a:bodyPr>
          <a:lstStyle/>
          <a:p>
            <a:r>
              <a:rPr lang="en-US" dirty="0"/>
              <a:t>As project manager, this communication plan documents how I plan to keep all of our project stakeholders updated on the status of our projects. Our methods will be consistent with an email along with a meeting for all reports and plans. </a:t>
            </a:r>
          </a:p>
          <a:p>
            <a:br>
              <a:rPr lang="en-US" dirty="0"/>
            </a:br>
            <a:r>
              <a:rPr lang="en-US" dirty="0"/>
              <a:t>We will hold a monthly company and project status report meeting on the first Friday of each month to close out the week, a weekly project status report on each Monday to begin the week, a sales plan meeting on the first workday of each month to plan how to generate sales that month, and a marketing meeting on the second workday of each month to discuss marketing strategies.</a:t>
            </a:r>
          </a:p>
          <a:p>
            <a:br>
              <a:rPr lang="en-US" dirty="0"/>
            </a:br>
            <a:endParaRPr lang="en-US" dirty="0"/>
          </a:p>
        </p:txBody>
      </p:sp>
    </p:spTree>
    <p:extLst>
      <p:ext uri="{BB962C8B-B14F-4D97-AF65-F5344CB8AC3E}">
        <p14:creationId xmlns:p14="http://schemas.microsoft.com/office/powerpoint/2010/main" val="14030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176FD-3CAB-7885-E6D6-2E58B352CE54}"/>
              </a:ext>
            </a:extLst>
          </p:cNvPr>
          <p:cNvSpPr>
            <a:spLocks noGrp="1"/>
          </p:cNvSpPr>
          <p:nvPr>
            <p:ph type="title"/>
          </p:nvPr>
        </p:nvSpPr>
        <p:spPr>
          <a:xfrm>
            <a:off x="2206077" y="606764"/>
            <a:ext cx="7958331" cy="1077229"/>
          </a:xfrm>
        </p:spPr>
        <p:txBody>
          <a:bodyPr/>
          <a:lstStyle/>
          <a:p>
            <a:pPr algn="ctr"/>
            <a:r>
              <a:rPr lang="en-US" dirty="0"/>
              <a:t>Milestone Report</a:t>
            </a:r>
          </a:p>
        </p:txBody>
      </p:sp>
      <p:sp>
        <p:nvSpPr>
          <p:cNvPr id="4" name="TextBox 3">
            <a:extLst>
              <a:ext uri="{FF2B5EF4-FFF2-40B4-BE49-F238E27FC236}">
                <a16:creationId xmlns:a16="http://schemas.microsoft.com/office/drawing/2014/main" id="{476964BD-7406-6D8F-9F06-BB8782C1114B}"/>
              </a:ext>
            </a:extLst>
          </p:cNvPr>
          <p:cNvSpPr txBox="1"/>
          <p:nvPr/>
        </p:nvSpPr>
        <p:spPr>
          <a:xfrm>
            <a:off x="420914" y="898196"/>
            <a:ext cx="217714" cy="4247317"/>
          </a:xfrm>
          <a:prstGeom prst="rect">
            <a:avLst/>
          </a:prstGeom>
          <a:noFill/>
        </p:spPr>
        <p:txBody>
          <a:bodyPr wrap="square" rtlCol="0">
            <a:spAutoFit/>
          </a:bodyPr>
          <a:lstStyle/>
          <a:p>
            <a:r>
              <a:rPr lang="en-US" dirty="0"/>
              <a:t>Executing</a:t>
            </a:r>
          </a:p>
          <a:p>
            <a:r>
              <a:rPr lang="en-US" dirty="0"/>
              <a:t> </a:t>
            </a:r>
          </a:p>
          <a:p>
            <a:r>
              <a:rPr lang="en-US" dirty="0"/>
              <a:t>Phase</a:t>
            </a:r>
          </a:p>
        </p:txBody>
      </p:sp>
      <p:sp>
        <p:nvSpPr>
          <p:cNvPr id="7" name="TextBox 6">
            <a:extLst>
              <a:ext uri="{FF2B5EF4-FFF2-40B4-BE49-F238E27FC236}">
                <a16:creationId xmlns:a16="http://schemas.microsoft.com/office/drawing/2014/main" id="{E10B782B-22CA-E998-64E2-42AFE752929B}"/>
              </a:ext>
            </a:extLst>
          </p:cNvPr>
          <p:cNvSpPr txBox="1"/>
          <p:nvPr/>
        </p:nvSpPr>
        <p:spPr>
          <a:xfrm>
            <a:off x="1613241" y="1443841"/>
            <a:ext cx="9144001" cy="3970318"/>
          </a:xfrm>
          <a:prstGeom prst="rect">
            <a:avLst/>
          </a:prstGeom>
          <a:noFill/>
        </p:spPr>
        <p:txBody>
          <a:bodyPr wrap="square" rtlCol="0">
            <a:spAutoFit/>
          </a:bodyPr>
          <a:lstStyle/>
          <a:p>
            <a:r>
              <a:rPr lang="en-US" dirty="0"/>
              <a:t>4 Company Milestones: </a:t>
            </a:r>
          </a:p>
          <a:p>
            <a:pPr marL="400050" indent="-400050">
              <a:buFont typeface="+mj-lt"/>
              <a:buAutoNum type="romanUcPeriod"/>
            </a:pPr>
            <a:r>
              <a:rPr lang="en-US" dirty="0"/>
              <a:t>Landing page completion &amp; published. When this milestone is hit it means we have an official website that clients can visit and acquire information from.</a:t>
            </a:r>
          </a:p>
          <a:p>
            <a:pPr marL="400050" indent="-400050">
              <a:buFont typeface="+mj-lt"/>
              <a:buAutoNum type="romanUcPeriod"/>
            </a:pPr>
            <a:endParaRPr lang="en-US" dirty="0"/>
          </a:p>
          <a:p>
            <a:pPr marL="400050" indent="-400050">
              <a:buFont typeface="+mj-lt"/>
              <a:buAutoNum type="romanUcPeriod"/>
            </a:pPr>
            <a:r>
              <a:rPr lang="en-US" dirty="0"/>
              <a:t>All testing &amp; reporting tools finalized. When this milestone is hit, we will have all of our resources necessary in order to be able to test companies websites and apps.</a:t>
            </a:r>
          </a:p>
          <a:p>
            <a:pPr marL="400050" indent="-400050">
              <a:buFont typeface="+mj-lt"/>
              <a:buAutoNum type="romanUcPeriod"/>
            </a:pPr>
            <a:endParaRPr lang="en-US" dirty="0"/>
          </a:p>
          <a:p>
            <a:pPr marL="400050" indent="-400050">
              <a:buFont typeface="+mj-lt"/>
              <a:buAutoNum type="romanUcPeriod"/>
            </a:pPr>
            <a:r>
              <a:rPr lang="en-US" dirty="0"/>
              <a:t>Business launched. This milestone is an essential one because it means that all of our planning and preparation came to fruition, and now we can start generating revenue.</a:t>
            </a:r>
          </a:p>
          <a:p>
            <a:pPr marL="400050" indent="-400050">
              <a:buFont typeface="+mj-lt"/>
              <a:buAutoNum type="romanUcPeriod"/>
            </a:pPr>
            <a:endParaRPr lang="en-US" dirty="0"/>
          </a:p>
          <a:p>
            <a:pPr marL="400050" indent="-400050">
              <a:buFont typeface="+mj-lt"/>
              <a:buAutoNum type="romanUcPeriod"/>
            </a:pPr>
            <a:r>
              <a:rPr lang="en-US" dirty="0"/>
              <a:t>Obtained first client. This milestone would mean the most to me because it would indicate that our hard work is paying off and that there’s intrinsic value to this business.</a:t>
            </a:r>
          </a:p>
        </p:txBody>
      </p:sp>
    </p:spTree>
    <p:extLst>
      <p:ext uri="{BB962C8B-B14F-4D97-AF65-F5344CB8AC3E}">
        <p14:creationId xmlns:p14="http://schemas.microsoft.com/office/powerpoint/2010/main" val="1541544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89298-0BE7-A5A8-FCD3-B0C4260C3059}"/>
              </a:ext>
            </a:extLst>
          </p:cNvPr>
          <p:cNvSpPr>
            <a:spLocks noGrp="1"/>
          </p:cNvSpPr>
          <p:nvPr>
            <p:ph type="title"/>
          </p:nvPr>
        </p:nvSpPr>
        <p:spPr>
          <a:xfrm>
            <a:off x="1931772" y="536206"/>
            <a:ext cx="8328455" cy="1077229"/>
          </a:xfrm>
        </p:spPr>
        <p:txBody>
          <a:bodyPr/>
          <a:lstStyle/>
          <a:p>
            <a:pPr algn="ctr"/>
            <a:r>
              <a:rPr lang="en-US" dirty="0"/>
              <a:t>HR Plan</a:t>
            </a:r>
          </a:p>
        </p:txBody>
      </p:sp>
      <p:pic>
        <p:nvPicPr>
          <p:cNvPr id="5" name="Content Placeholder 4" descr="A diagram of a project manager&#10;&#10;AI-generated content may be incorrect.">
            <a:extLst>
              <a:ext uri="{FF2B5EF4-FFF2-40B4-BE49-F238E27FC236}">
                <a16:creationId xmlns:a16="http://schemas.microsoft.com/office/drawing/2014/main" id="{D721A3C8-CC93-75B1-07AE-99DEB414CEA8}"/>
              </a:ext>
            </a:extLst>
          </p:cNvPr>
          <p:cNvPicPr>
            <a:picLocks noGrp="1" noChangeAspect="1"/>
          </p:cNvPicPr>
          <p:nvPr>
            <p:ph idx="1"/>
          </p:nvPr>
        </p:nvPicPr>
        <p:blipFill>
          <a:blip r:embed="rId2"/>
          <a:stretch>
            <a:fillRect/>
          </a:stretch>
        </p:blipFill>
        <p:spPr>
          <a:xfrm>
            <a:off x="1604881" y="1304516"/>
            <a:ext cx="8982238" cy="3302293"/>
          </a:xfrm>
        </p:spPr>
      </p:pic>
      <p:sp>
        <p:nvSpPr>
          <p:cNvPr id="6" name="TextBox 5">
            <a:extLst>
              <a:ext uri="{FF2B5EF4-FFF2-40B4-BE49-F238E27FC236}">
                <a16:creationId xmlns:a16="http://schemas.microsoft.com/office/drawing/2014/main" id="{184456E2-EE01-8843-0BC9-1A51C5B27754}"/>
              </a:ext>
            </a:extLst>
          </p:cNvPr>
          <p:cNvSpPr txBox="1"/>
          <p:nvPr/>
        </p:nvSpPr>
        <p:spPr>
          <a:xfrm>
            <a:off x="1717589" y="4942703"/>
            <a:ext cx="8649730" cy="1200329"/>
          </a:xfrm>
          <a:prstGeom prst="rect">
            <a:avLst/>
          </a:prstGeom>
          <a:noFill/>
        </p:spPr>
        <p:txBody>
          <a:bodyPr wrap="square" rtlCol="0">
            <a:spAutoFit/>
          </a:bodyPr>
          <a:lstStyle/>
          <a:p>
            <a:r>
              <a:rPr lang="en-US" dirty="0"/>
              <a:t>Above is our team organization chart. While creating it, I identified myself as the project manager. In order to succeed, we will need a QA tester, sales, and marketing team. This structure provides a clear organizational structure for our business.</a:t>
            </a:r>
          </a:p>
        </p:txBody>
      </p:sp>
      <p:sp>
        <p:nvSpPr>
          <p:cNvPr id="7" name="TextBox 6">
            <a:extLst>
              <a:ext uri="{FF2B5EF4-FFF2-40B4-BE49-F238E27FC236}">
                <a16:creationId xmlns:a16="http://schemas.microsoft.com/office/drawing/2014/main" id="{78D1CF50-2C43-3BC5-F5FA-8A9EB6843B4D}"/>
              </a:ext>
            </a:extLst>
          </p:cNvPr>
          <p:cNvSpPr txBox="1"/>
          <p:nvPr/>
        </p:nvSpPr>
        <p:spPr>
          <a:xfrm>
            <a:off x="420914" y="898196"/>
            <a:ext cx="217714" cy="4524315"/>
          </a:xfrm>
          <a:prstGeom prst="rect">
            <a:avLst/>
          </a:prstGeom>
          <a:noFill/>
        </p:spPr>
        <p:txBody>
          <a:bodyPr wrap="square" rtlCol="0">
            <a:spAutoFit/>
          </a:bodyPr>
          <a:lstStyle/>
          <a:p>
            <a:r>
              <a:rPr lang="en-US" dirty="0"/>
              <a:t>Monitoring</a:t>
            </a:r>
          </a:p>
          <a:p>
            <a:r>
              <a:rPr lang="en-US" dirty="0"/>
              <a:t> </a:t>
            </a:r>
          </a:p>
          <a:p>
            <a:r>
              <a:rPr lang="en-US" dirty="0"/>
              <a:t>Phase</a:t>
            </a:r>
          </a:p>
        </p:txBody>
      </p:sp>
    </p:spTree>
    <p:extLst>
      <p:ext uri="{BB962C8B-B14F-4D97-AF65-F5344CB8AC3E}">
        <p14:creationId xmlns:p14="http://schemas.microsoft.com/office/powerpoint/2010/main" val="195850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943A-D09A-3C2D-073D-74C9E4E7A297}"/>
              </a:ext>
            </a:extLst>
          </p:cNvPr>
          <p:cNvSpPr>
            <a:spLocks noGrp="1"/>
          </p:cNvSpPr>
          <p:nvPr>
            <p:ph type="title"/>
          </p:nvPr>
        </p:nvSpPr>
        <p:spPr>
          <a:xfrm>
            <a:off x="3179225" y="1375846"/>
            <a:ext cx="7958331" cy="1077229"/>
          </a:xfrm>
        </p:spPr>
        <p:txBody>
          <a:bodyPr/>
          <a:lstStyle/>
          <a:p>
            <a:r>
              <a:rPr lang="en-US" dirty="0"/>
              <a:t>HR </a:t>
            </a:r>
            <a:br>
              <a:rPr lang="en-US" dirty="0"/>
            </a:br>
            <a:r>
              <a:rPr lang="en-US" dirty="0"/>
              <a:t>Plan</a:t>
            </a:r>
          </a:p>
        </p:txBody>
      </p:sp>
      <p:sp>
        <p:nvSpPr>
          <p:cNvPr id="4" name="TextBox 3">
            <a:extLst>
              <a:ext uri="{FF2B5EF4-FFF2-40B4-BE49-F238E27FC236}">
                <a16:creationId xmlns:a16="http://schemas.microsoft.com/office/drawing/2014/main" id="{997C4308-F1F2-98A4-FC07-40F1A7B2F40B}"/>
              </a:ext>
            </a:extLst>
          </p:cNvPr>
          <p:cNvSpPr txBox="1"/>
          <p:nvPr/>
        </p:nvSpPr>
        <p:spPr>
          <a:xfrm>
            <a:off x="420914" y="898196"/>
            <a:ext cx="217714" cy="4524315"/>
          </a:xfrm>
          <a:prstGeom prst="rect">
            <a:avLst/>
          </a:prstGeom>
          <a:noFill/>
        </p:spPr>
        <p:txBody>
          <a:bodyPr wrap="square" rtlCol="0">
            <a:spAutoFit/>
          </a:bodyPr>
          <a:lstStyle/>
          <a:p>
            <a:r>
              <a:rPr lang="en-US" dirty="0"/>
              <a:t>Monitoring</a:t>
            </a:r>
          </a:p>
          <a:p>
            <a:r>
              <a:rPr lang="en-US" dirty="0"/>
              <a:t> </a:t>
            </a:r>
          </a:p>
          <a:p>
            <a:r>
              <a:rPr lang="en-US" dirty="0"/>
              <a:t>Phase</a:t>
            </a:r>
          </a:p>
        </p:txBody>
      </p:sp>
      <p:sp>
        <p:nvSpPr>
          <p:cNvPr id="7" name="TextBox 6">
            <a:extLst>
              <a:ext uri="{FF2B5EF4-FFF2-40B4-BE49-F238E27FC236}">
                <a16:creationId xmlns:a16="http://schemas.microsoft.com/office/drawing/2014/main" id="{A3DDF265-AE5F-FADE-C49B-7E4E796624BA}"/>
              </a:ext>
            </a:extLst>
          </p:cNvPr>
          <p:cNvSpPr txBox="1"/>
          <p:nvPr/>
        </p:nvSpPr>
        <p:spPr>
          <a:xfrm>
            <a:off x="1054443" y="4404925"/>
            <a:ext cx="10083113" cy="2585323"/>
          </a:xfrm>
          <a:prstGeom prst="rect">
            <a:avLst/>
          </a:prstGeom>
          <a:noFill/>
        </p:spPr>
        <p:txBody>
          <a:bodyPr wrap="square" rtlCol="0">
            <a:spAutoFit/>
          </a:bodyPr>
          <a:lstStyle/>
          <a:p>
            <a:r>
              <a:rPr lang="en-US" sz="1600" b="1" dirty="0"/>
              <a:t>Our RACI Chart displays the 4 key project roles for our stakeholders. “R” represents who is responsible for doing the task, “A” represents who’s accountable for the task/has authority over it, “C” represents who is consulted and has the information necessary to complete the task, and “I” represents who needs to be informed of task status and results. This helps to allocate work and define project roles and responsibilities.</a:t>
            </a:r>
          </a:p>
          <a:p>
            <a:endParaRPr lang="en-US" sz="1600" b="1" dirty="0"/>
          </a:p>
          <a:p>
            <a:r>
              <a:rPr lang="en-US" sz="1600" b="1" dirty="0"/>
              <a:t>Our Responsibility Assignment Matrix maps the work of the project, to display who is responsible for performing the work. ”R” represents the responsible party, and “P” represents the party performing the task. This helps to clarify roles that parties have, and prevents discrepancies. </a:t>
            </a:r>
          </a:p>
          <a:p>
            <a:endParaRPr lang="en-US" dirty="0"/>
          </a:p>
        </p:txBody>
      </p:sp>
      <p:pic>
        <p:nvPicPr>
          <p:cNvPr id="11" name="Content Placeholder 10" descr="A table with numbers and letters&#10;&#10;AI-generated content may be incorrect.">
            <a:extLst>
              <a:ext uri="{FF2B5EF4-FFF2-40B4-BE49-F238E27FC236}">
                <a16:creationId xmlns:a16="http://schemas.microsoft.com/office/drawing/2014/main" id="{6258018A-AFFE-4262-29D0-ABB67FD1C338}"/>
              </a:ext>
            </a:extLst>
          </p:cNvPr>
          <p:cNvPicPr>
            <a:picLocks noGrp="1" noChangeAspect="1"/>
          </p:cNvPicPr>
          <p:nvPr>
            <p:ph idx="1"/>
          </p:nvPr>
        </p:nvPicPr>
        <p:blipFill>
          <a:blip r:embed="rId2"/>
          <a:stretch>
            <a:fillRect/>
          </a:stretch>
        </p:blipFill>
        <p:spPr>
          <a:xfrm>
            <a:off x="1558592" y="263738"/>
            <a:ext cx="8245338" cy="3986986"/>
          </a:xfrm>
        </p:spPr>
      </p:pic>
    </p:spTree>
    <p:extLst>
      <p:ext uri="{BB962C8B-B14F-4D97-AF65-F5344CB8AC3E}">
        <p14:creationId xmlns:p14="http://schemas.microsoft.com/office/powerpoint/2010/main" val="1114598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09BB9-2D5E-D6CE-EB8F-3FC7542F47BF}"/>
              </a:ext>
            </a:extLst>
          </p:cNvPr>
          <p:cNvSpPr>
            <a:spLocks noGrp="1"/>
          </p:cNvSpPr>
          <p:nvPr>
            <p:ph type="title"/>
          </p:nvPr>
        </p:nvSpPr>
        <p:spPr>
          <a:xfrm>
            <a:off x="1824102" y="455784"/>
            <a:ext cx="7958331" cy="1077229"/>
          </a:xfrm>
        </p:spPr>
        <p:txBody>
          <a:bodyPr/>
          <a:lstStyle/>
          <a:p>
            <a:pPr algn="ctr"/>
            <a:r>
              <a:rPr lang="en-US" dirty="0"/>
              <a:t>SWOT Risk Analysis</a:t>
            </a:r>
          </a:p>
        </p:txBody>
      </p:sp>
      <p:sp>
        <p:nvSpPr>
          <p:cNvPr id="3" name="Content Placeholder 2">
            <a:extLst>
              <a:ext uri="{FF2B5EF4-FFF2-40B4-BE49-F238E27FC236}">
                <a16:creationId xmlns:a16="http://schemas.microsoft.com/office/drawing/2014/main" id="{7CD23A3F-EE23-63BC-BD3D-3DAF362CAC77}"/>
              </a:ext>
            </a:extLst>
          </p:cNvPr>
          <p:cNvSpPr>
            <a:spLocks noGrp="1"/>
          </p:cNvSpPr>
          <p:nvPr>
            <p:ph idx="1"/>
          </p:nvPr>
        </p:nvSpPr>
        <p:spPr>
          <a:xfrm>
            <a:off x="2491656" y="1754562"/>
            <a:ext cx="7796540" cy="3997828"/>
          </a:xfrm>
        </p:spPr>
        <p:txBody>
          <a:bodyPr>
            <a:normAutofit fontScale="25000" lnSpcReduction="20000"/>
          </a:bodyPr>
          <a:lstStyle/>
          <a:p>
            <a:pPr marL="0" indent="0">
              <a:buNone/>
            </a:pPr>
            <a:endParaRPr lang="en-US" sz="5600" dirty="0"/>
          </a:p>
          <a:p>
            <a:r>
              <a:rPr lang="en-US" sz="5600" b="1" dirty="0"/>
              <a:t>Strengths</a:t>
            </a:r>
            <a:r>
              <a:rPr lang="en-US" sz="5600" dirty="0"/>
              <a:t> </a:t>
            </a:r>
          </a:p>
          <a:p>
            <a:pPr lvl="1"/>
            <a:r>
              <a:rPr lang="en-US" sz="5600" dirty="0"/>
              <a:t>Low startup costs- Only about $600 total.</a:t>
            </a:r>
          </a:p>
          <a:p>
            <a:pPr lvl="1"/>
            <a:r>
              <a:rPr lang="en-US" sz="5600" dirty="0"/>
              <a:t>Full independence &amp; control- because we’re a solo business.</a:t>
            </a:r>
          </a:p>
          <a:p>
            <a:r>
              <a:rPr lang="en-US" sz="5600" b="1" dirty="0"/>
              <a:t>Weaknesses</a:t>
            </a:r>
            <a:r>
              <a:rPr lang="en-US" sz="5600" dirty="0"/>
              <a:t> </a:t>
            </a:r>
          </a:p>
          <a:p>
            <a:pPr lvl="1"/>
            <a:r>
              <a:rPr lang="en-US" sz="5600" dirty="0"/>
              <a:t>Limited experience as a new QA business- focus groups will help with this.</a:t>
            </a:r>
          </a:p>
          <a:p>
            <a:pPr lvl="1"/>
            <a:r>
              <a:rPr lang="en-US" sz="5600" dirty="0"/>
              <a:t>Solo operation → limited scalability- no team yet so tough to scale to more clients.</a:t>
            </a:r>
          </a:p>
          <a:p>
            <a:r>
              <a:rPr lang="en-US" sz="5600" b="1" dirty="0"/>
              <a:t>Opportunities</a:t>
            </a:r>
            <a:r>
              <a:rPr lang="en-US" sz="5600" dirty="0"/>
              <a:t> </a:t>
            </a:r>
          </a:p>
          <a:p>
            <a:pPr lvl="1"/>
            <a:r>
              <a:rPr lang="en-US" sz="5600" dirty="0"/>
              <a:t>Increasing demand for website QA/testing- Especially as modern technology increases.</a:t>
            </a:r>
          </a:p>
          <a:p>
            <a:pPr lvl="1"/>
            <a:r>
              <a:rPr lang="en-US" sz="5600" dirty="0"/>
              <a:t>Small businesses needing affordable solutions- Instead of small companies spending on large business services we could bridge the gap of affordable quality solutions.</a:t>
            </a:r>
          </a:p>
          <a:p>
            <a:r>
              <a:rPr lang="en-US" sz="5600" b="1" dirty="0"/>
              <a:t>Threats</a:t>
            </a:r>
            <a:r>
              <a:rPr lang="en-US" sz="5600" dirty="0"/>
              <a:t> </a:t>
            </a:r>
          </a:p>
          <a:p>
            <a:pPr lvl="1"/>
            <a:r>
              <a:rPr lang="en-US" sz="5600" dirty="0"/>
              <a:t>Competition from established QA companies- </a:t>
            </a:r>
            <a:r>
              <a:rPr lang="en-US" sz="6000" dirty="0"/>
              <a:t>Brand visibility and client acquisition strategies will be critical to early success.</a:t>
            </a:r>
            <a:endParaRPr lang="en-US" sz="5600" dirty="0"/>
          </a:p>
          <a:p>
            <a:pPr lvl="1"/>
            <a:r>
              <a:rPr lang="en-US" sz="5600" dirty="0"/>
              <a:t>Potential difficulty gaining initial clients- Client outreach and trust will be essential.</a:t>
            </a:r>
          </a:p>
          <a:p>
            <a:r>
              <a:rPr lang="en-US" sz="5600" dirty="0"/>
              <a:t>Risks assessments will be reviewed monthly- to ensure that we’re keeping our risks low.</a:t>
            </a:r>
          </a:p>
          <a:p>
            <a:endParaRPr lang="en-US" dirty="0"/>
          </a:p>
        </p:txBody>
      </p:sp>
      <p:sp>
        <p:nvSpPr>
          <p:cNvPr id="4" name="TextBox 3">
            <a:extLst>
              <a:ext uri="{FF2B5EF4-FFF2-40B4-BE49-F238E27FC236}">
                <a16:creationId xmlns:a16="http://schemas.microsoft.com/office/drawing/2014/main" id="{F43601BA-F9C8-CCD5-BBCB-4C80058330AC}"/>
              </a:ext>
            </a:extLst>
          </p:cNvPr>
          <p:cNvSpPr txBox="1"/>
          <p:nvPr/>
        </p:nvSpPr>
        <p:spPr>
          <a:xfrm>
            <a:off x="420914" y="898196"/>
            <a:ext cx="217714" cy="4524315"/>
          </a:xfrm>
          <a:prstGeom prst="rect">
            <a:avLst/>
          </a:prstGeom>
          <a:noFill/>
        </p:spPr>
        <p:txBody>
          <a:bodyPr wrap="square" rtlCol="0">
            <a:spAutoFit/>
          </a:bodyPr>
          <a:lstStyle/>
          <a:p>
            <a:r>
              <a:rPr lang="en-US" dirty="0"/>
              <a:t>Monitoring</a:t>
            </a:r>
          </a:p>
          <a:p>
            <a:r>
              <a:rPr lang="en-US" dirty="0"/>
              <a:t> </a:t>
            </a:r>
          </a:p>
          <a:p>
            <a:r>
              <a:rPr lang="en-US" dirty="0"/>
              <a:t>Phase</a:t>
            </a:r>
          </a:p>
        </p:txBody>
      </p:sp>
    </p:spTree>
    <p:extLst>
      <p:ext uri="{BB962C8B-B14F-4D97-AF65-F5344CB8AC3E}">
        <p14:creationId xmlns:p14="http://schemas.microsoft.com/office/powerpoint/2010/main" val="1318718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F9D9-183B-27AA-9EB4-BCA78C16BB7A}"/>
              </a:ext>
            </a:extLst>
          </p:cNvPr>
          <p:cNvSpPr>
            <a:spLocks noGrp="1"/>
          </p:cNvSpPr>
          <p:nvPr>
            <p:ph type="title"/>
          </p:nvPr>
        </p:nvSpPr>
        <p:spPr>
          <a:xfrm>
            <a:off x="1858046" y="359581"/>
            <a:ext cx="7958331" cy="1077229"/>
          </a:xfrm>
        </p:spPr>
        <p:txBody>
          <a:bodyPr/>
          <a:lstStyle/>
          <a:p>
            <a:pPr algn="ctr"/>
            <a:r>
              <a:rPr lang="en-US" dirty="0"/>
              <a:t>Risk Management Plan</a:t>
            </a:r>
          </a:p>
        </p:txBody>
      </p:sp>
      <p:sp>
        <p:nvSpPr>
          <p:cNvPr id="4" name="TextBox 3">
            <a:extLst>
              <a:ext uri="{FF2B5EF4-FFF2-40B4-BE49-F238E27FC236}">
                <a16:creationId xmlns:a16="http://schemas.microsoft.com/office/drawing/2014/main" id="{7AD657B1-D96C-FB52-C722-9E4EBB801889}"/>
              </a:ext>
            </a:extLst>
          </p:cNvPr>
          <p:cNvSpPr txBox="1"/>
          <p:nvPr/>
        </p:nvSpPr>
        <p:spPr>
          <a:xfrm>
            <a:off x="420914" y="898196"/>
            <a:ext cx="217714" cy="4524315"/>
          </a:xfrm>
          <a:prstGeom prst="rect">
            <a:avLst/>
          </a:prstGeom>
          <a:noFill/>
        </p:spPr>
        <p:txBody>
          <a:bodyPr wrap="square" rtlCol="0">
            <a:spAutoFit/>
          </a:bodyPr>
          <a:lstStyle/>
          <a:p>
            <a:r>
              <a:rPr lang="en-US" dirty="0"/>
              <a:t>Monitoring</a:t>
            </a:r>
          </a:p>
          <a:p>
            <a:r>
              <a:rPr lang="en-US" dirty="0"/>
              <a:t> </a:t>
            </a:r>
          </a:p>
          <a:p>
            <a:r>
              <a:rPr lang="en-US" dirty="0"/>
              <a:t>Phase</a:t>
            </a:r>
          </a:p>
        </p:txBody>
      </p:sp>
      <p:sp>
        <p:nvSpPr>
          <p:cNvPr id="8" name="TextBox 7">
            <a:extLst>
              <a:ext uri="{FF2B5EF4-FFF2-40B4-BE49-F238E27FC236}">
                <a16:creationId xmlns:a16="http://schemas.microsoft.com/office/drawing/2014/main" id="{00AC1C81-FA36-1548-97E4-3B16750BD445}"/>
              </a:ext>
            </a:extLst>
          </p:cNvPr>
          <p:cNvSpPr txBox="1"/>
          <p:nvPr/>
        </p:nvSpPr>
        <p:spPr>
          <a:xfrm>
            <a:off x="2901779" y="1062464"/>
            <a:ext cx="7626178" cy="5632311"/>
          </a:xfrm>
          <a:prstGeom prst="rect">
            <a:avLst/>
          </a:prstGeom>
          <a:noFill/>
        </p:spPr>
        <p:txBody>
          <a:bodyPr wrap="square">
            <a:spAutoFit/>
          </a:bodyPr>
          <a:lstStyle/>
          <a:p>
            <a:pPr>
              <a:buNone/>
            </a:pPr>
            <a:r>
              <a:rPr lang="en-US" b="1" dirty="0"/>
              <a:t>Methodology</a:t>
            </a:r>
            <a:endParaRPr lang="en-US" dirty="0"/>
          </a:p>
          <a:p>
            <a:pPr>
              <a:buFont typeface="Arial" panose="020B0604020202020204" pitchFamily="34" charset="0"/>
              <a:buChar char="•"/>
            </a:pPr>
            <a:r>
              <a:rPr lang="en-US" dirty="0"/>
              <a:t>Maintain a </a:t>
            </a:r>
            <a:r>
              <a:rPr lang="en-US" b="1" dirty="0"/>
              <a:t>risk register</a:t>
            </a:r>
            <a:r>
              <a:rPr lang="en-US" dirty="0"/>
              <a:t> </a:t>
            </a:r>
          </a:p>
          <a:p>
            <a:r>
              <a:rPr lang="en-US" dirty="0"/>
              <a:t> </a:t>
            </a:r>
          </a:p>
          <a:p>
            <a:r>
              <a:rPr lang="en-US" b="1" dirty="0"/>
              <a:t>Solely Responsible for:</a:t>
            </a:r>
            <a:endParaRPr lang="en-US" dirty="0"/>
          </a:p>
          <a:p>
            <a:pPr marL="742950" lvl="1" indent="-285750">
              <a:buFont typeface="Arial" panose="020B0604020202020204" pitchFamily="34" charset="0"/>
              <a:buChar char="•"/>
            </a:pPr>
            <a:r>
              <a:rPr lang="en-US" dirty="0"/>
              <a:t>Identifying &amp; documenting risks </a:t>
            </a:r>
          </a:p>
          <a:p>
            <a:pPr marL="742950" lvl="1" indent="-285750">
              <a:buFont typeface="Arial" panose="020B0604020202020204" pitchFamily="34" charset="0"/>
              <a:buChar char="•"/>
            </a:pPr>
            <a:r>
              <a:rPr lang="en-US" dirty="0"/>
              <a:t>Implementing mitigation strategies</a:t>
            </a:r>
          </a:p>
          <a:p>
            <a:pPr lvl="1"/>
            <a:r>
              <a:rPr lang="en-US" dirty="0"/>
              <a:t> </a:t>
            </a:r>
          </a:p>
          <a:p>
            <a:pPr>
              <a:buNone/>
            </a:pPr>
            <a:r>
              <a:rPr lang="en-US" b="1" dirty="0"/>
              <a:t>Mitigation Strategies</a:t>
            </a:r>
            <a:endParaRPr lang="en-US" dirty="0"/>
          </a:p>
          <a:p>
            <a:pPr>
              <a:buFont typeface="Arial" panose="020B0604020202020204" pitchFamily="34" charset="0"/>
              <a:buChar char="•"/>
            </a:pPr>
            <a:r>
              <a:rPr lang="en-US" b="1" dirty="0"/>
              <a:t>Preventative</a:t>
            </a:r>
            <a:r>
              <a:rPr lang="en-US" dirty="0"/>
              <a:t> </a:t>
            </a:r>
          </a:p>
          <a:p>
            <a:pPr marL="742950" lvl="1" indent="-285750">
              <a:buFont typeface="Arial" panose="020B0604020202020204" pitchFamily="34" charset="0"/>
              <a:buChar char="•"/>
            </a:pPr>
            <a:r>
              <a:rPr lang="en-US" dirty="0"/>
              <a:t>Avoid delays &amp; other risks. Keep services simple with a clear scope to prevent delays and unhappy clients.</a:t>
            </a:r>
          </a:p>
          <a:p>
            <a:pPr>
              <a:buFont typeface="Arial" panose="020B0604020202020204" pitchFamily="34" charset="0"/>
              <a:buChar char="•"/>
            </a:pPr>
            <a:r>
              <a:rPr lang="en-US" b="1" dirty="0"/>
              <a:t>Contingency</a:t>
            </a:r>
            <a:r>
              <a:rPr lang="en-US" dirty="0"/>
              <a:t> </a:t>
            </a:r>
          </a:p>
          <a:p>
            <a:pPr marL="742950" lvl="1" indent="-285750">
              <a:buFont typeface="Arial" panose="020B0604020202020204" pitchFamily="34" charset="0"/>
              <a:buChar char="•"/>
            </a:pPr>
            <a:r>
              <a:rPr lang="en-US" dirty="0"/>
              <a:t>Handle delays with clear client communication. If we find ourselves in a situation where we can’t deliver on time we will communicate upfront and clearly to the client.</a:t>
            </a:r>
          </a:p>
          <a:p>
            <a:pPr marL="742950" lvl="1" indent="-285750">
              <a:buFont typeface="Arial" panose="020B0604020202020204" pitchFamily="34" charset="0"/>
              <a:buChar char="•"/>
            </a:pPr>
            <a:r>
              <a:rPr lang="en-US" dirty="0"/>
              <a:t>Offer discounts or solutions (if need-be) to keep clients satisfied </a:t>
            </a:r>
          </a:p>
          <a:p>
            <a:pPr lvl="1"/>
            <a:endParaRPr lang="en-US" dirty="0"/>
          </a:p>
          <a:p>
            <a:pPr>
              <a:buNone/>
            </a:pPr>
            <a:r>
              <a:rPr lang="en-US" b="1" dirty="0"/>
              <a:t>Budget Risks</a:t>
            </a:r>
            <a:endParaRPr lang="en-US" dirty="0"/>
          </a:p>
          <a:p>
            <a:pPr>
              <a:buFont typeface="Arial" panose="020B0604020202020204" pitchFamily="34" charset="0"/>
              <a:buChar char="•"/>
            </a:pPr>
            <a:r>
              <a:rPr lang="en-US" dirty="0"/>
              <a:t>Low overhead (Playwright tools) </a:t>
            </a:r>
          </a:p>
          <a:p>
            <a:pPr>
              <a:buFont typeface="Arial" panose="020B0604020202020204" pitchFamily="34" charset="0"/>
              <a:buChar char="•"/>
            </a:pPr>
            <a:r>
              <a:rPr lang="en-US" dirty="0"/>
              <a:t>We will focus our spending on marketing &amp; client acquisition </a:t>
            </a:r>
          </a:p>
        </p:txBody>
      </p:sp>
    </p:spTree>
    <p:extLst>
      <p:ext uri="{BB962C8B-B14F-4D97-AF65-F5344CB8AC3E}">
        <p14:creationId xmlns:p14="http://schemas.microsoft.com/office/powerpoint/2010/main" val="1731489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67F8-9016-79FA-FF1E-3BAA24A15A9A}"/>
              </a:ext>
            </a:extLst>
          </p:cNvPr>
          <p:cNvSpPr>
            <a:spLocks noGrp="1"/>
          </p:cNvSpPr>
          <p:nvPr>
            <p:ph type="title"/>
          </p:nvPr>
        </p:nvSpPr>
        <p:spPr>
          <a:xfrm>
            <a:off x="2116834" y="898196"/>
            <a:ext cx="7958331" cy="1077229"/>
          </a:xfrm>
        </p:spPr>
        <p:txBody>
          <a:bodyPr/>
          <a:lstStyle/>
          <a:p>
            <a:pPr algn="ctr"/>
            <a:r>
              <a:rPr lang="en-US" dirty="0"/>
              <a:t>QA Plan</a:t>
            </a:r>
          </a:p>
        </p:txBody>
      </p:sp>
      <p:sp>
        <p:nvSpPr>
          <p:cNvPr id="3" name="Content Placeholder 2">
            <a:extLst>
              <a:ext uri="{FF2B5EF4-FFF2-40B4-BE49-F238E27FC236}">
                <a16:creationId xmlns:a16="http://schemas.microsoft.com/office/drawing/2014/main" id="{AF78DF8C-C573-2ADF-1D6F-E77AF2A301BC}"/>
              </a:ext>
            </a:extLst>
          </p:cNvPr>
          <p:cNvSpPr>
            <a:spLocks noGrp="1"/>
          </p:cNvSpPr>
          <p:nvPr>
            <p:ph idx="1"/>
          </p:nvPr>
        </p:nvSpPr>
        <p:spPr>
          <a:xfrm>
            <a:off x="2489394" y="1693770"/>
            <a:ext cx="7796540" cy="3997828"/>
          </a:xfrm>
        </p:spPr>
        <p:txBody>
          <a:bodyPr/>
          <a:lstStyle/>
          <a:p>
            <a:r>
              <a:rPr lang="en-US" dirty="0"/>
              <a:t>Quality Assurance Testing quality will be based off the following QA plan metrics, if we can select Y (Yes) for all of these and N(No) for none of these, we have delivered our services appropriately:</a:t>
            </a:r>
          </a:p>
          <a:p>
            <a:r>
              <a:rPr lang="en-US" dirty="0"/>
              <a:t>Website/app pages scope tested- Y/N </a:t>
            </a:r>
          </a:p>
          <a:p>
            <a:r>
              <a:rPr lang="en-US" dirty="0"/>
              <a:t>Broken links, forms, all features tested for bugs - Y/N </a:t>
            </a:r>
          </a:p>
          <a:p>
            <a:r>
              <a:rPr lang="en-US" dirty="0"/>
              <a:t>Cross-functionality tests were performed - Y/N </a:t>
            </a:r>
          </a:p>
          <a:p>
            <a:r>
              <a:rPr lang="en-US" dirty="0"/>
              <a:t>Bug report delivered - Y/N</a:t>
            </a:r>
          </a:p>
        </p:txBody>
      </p:sp>
      <p:sp>
        <p:nvSpPr>
          <p:cNvPr id="4" name="TextBox 3">
            <a:extLst>
              <a:ext uri="{FF2B5EF4-FFF2-40B4-BE49-F238E27FC236}">
                <a16:creationId xmlns:a16="http://schemas.microsoft.com/office/drawing/2014/main" id="{F37B92A7-4C9A-DFFE-B6A5-638BB5EA7F52}"/>
              </a:ext>
            </a:extLst>
          </p:cNvPr>
          <p:cNvSpPr txBox="1"/>
          <p:nvPr/>
        </p:nvSpPr>
        <p:spPr>
          <a:xfrm>
            <a:off x="420914" y="898196"/>
            <a:ext cx="217714" cy="4524315"/>
          </a:xfrm>
          <a:prstGeom prst="rect">
            <a:avLst/>
          </a:prstGeom>
          <a:noFill/>
        </p:spPr>
        <p:txBody>
          <a:bodyPr wrap="square" rtlCol="0">
            <a:spAutoFit/>
          </a:bodyPr>
          <a:lstStyle/>
          <a:p>
            <a:r>
              <a:rPr lang="en-US" dirty="0"/>
              <a:t>Monitoring</a:t>
            </a:r>
          </a:p>
          <a:p>
            <a:r>
              <a:rPr lang="en-US" dirty="0"/>
              <a:t> </a:t>
            </a:r>
          </a:p>
          <a:p>
            <a:r>
              <a:rPr lang="en-US" dirty="0"/>
              <a:t>Phase</a:t>
            </a:r>
          </a:p>
        </p:txBody>
      </p:sp>
    </p:spTree>
    <p:extLst>
      <p:ext uri="{BB962C8B-B14F-4D97-AF65-F5344CB8AC3E}">
        <p14:creationId xmlns:p14="http://schemas.microsoft.com/office/powerpoint/2010/main" val="75177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49CB7-ECBE-3ABB-EB29-9D163019E44A}"/>
              </a:ext>
            </a:extLst>
          </p:cNvPr>
          <p:cNvSpPr>
            <a:spLocks noGrp="1"/>
          </p:cNvSpPr>
          <p:nvPr>
            <p:ph type="title"/>
          </p:nvPr>
        </p:nvSpPr>
        <p:spPr>
          <a:xfrm>
            <a:off x="2116834" y="1167512"/>
            <a:ext cx="7958331" cy="1077229"/>
          </a:xfrm>
        </p:spPr>
        <p:txBody>
          <a:bodyPr/>
          <a:lstStyle/>
          <a:p>
            <a:pPr algn="ctr"/>
            <a:r>
              <a:rPr lang="en-US" dirty="0"/>
              <a:t>Summary &amp; Lessons Learned</a:t>
            </a:r>
          </a:p>
        </p:txBody>
      </p:sp>
      <p:sp>
        <p:nvSpPr>
          <p:cNvPr id="3" name="Content Placeholder 2">
            <a:extLst>
              <a:ext uri="{FF2B5EF4-FFF2-40B4-BE49-F238E27FC236}">
                <a16:creationId xmlns:a16="http://schemas.microsoft.com/office/drawing/2014/main" id="{A36F1C07-BC73-4345-3110-021C1CCE100F}"/>
              </a:ext>
            </a:extLst>
          </p:cNvPr>
          <p:cNvSpPr>
            <a:spLocks noGrp="1"/>
          </p:cNvSpPr>
          <p:nvPr>
            <p:ph idx="1"/>
          </p:nvPr>
        </p:nvSpPr>
        <p:spPr>
          <a:xfrm>
            <a:off x="2278625" y="1842052"/>
            <a:ext cx="7796540" cy="3997828"/>
          </a:xfrm>
        </p:spPr>
        <p:txBody>
          <a:bodyPr/>
          <a:lstStyle/>
          <a:p>
            <a:r>
              <a:rPr lang="en-US" dirty="0"/>
              <a:t>Throughout developing this business from beginning to end I have learned the value of being detailed and tackling each stage of the process in order to be ready for launch, especially from the WBS. I also took valuable lessons from the risk management plan as it made me reflect on how many potential issues could occur with a small start-up QA business.</a:t>
            </a:r>
          </a:p>
        </p:txBody>
      </p:sp>
      <p:sp>
        <p:nvSpPr>
          <p:cNvPr id="4" name="TextBox 3">
            <a:extLst>
              <a:ext uri="{FF2B5EF4-FFF2-40B4-BE49-F238E27FC236}">
                <a16:creationId xmlns:a16="http://schemas.microsoft.com/office/drawing/2014/main" id="{C4588C1D-0EE4-519D-FA42-730D54AC090D}"/>
              </a:ext>
            </a:extLst>
          </p:cNvPr>
          <p:cNvSpPr txBox="1"/>
          <p:nvPr/>
        </p:nvSpPr>
        <p:spPr>
          <a:xfrm>
            <a:off x="420914" y="898196"/>
            <a:ext cx="217714" cy="3693319"/>
          </a:xfrm>
          <a:prstGeom prst="rect">
            <a:avLst/>
          </a:prstGeom>
          <a:noFill/>
        </p:spPr>
        <p:txBody>
          <a:bodyPr wrap="square" rtlCol="0">
            <a:spAutoFit/>
          </a:bodyPr>
          <a:lstStyle/>
          <a:p>
            <a:r>
              <a:rPr lang="en-US" dirty="0"/>
              <a:t>Closing</a:t>
            </a:r>
          </a:p>
          <a:p>
            <a:r>
              <a:rPr lang="en-US" dirty="0"/>
              <a:t> </a:t>
            </a:r>
          </a:p>
          <a:p>
            <a:r>
              <a:rPr lang="en-US" dirty="0"/>
              <a:t>Phase</a:t>
            </a:r>
          </a:p>
        </p:txBody>
      </p:sp>
    </p:spTree>
    <p:extLst>
      <p:ext uri="{BB962C8B-B14F-4D97-AF65-F5344CB8AC3E}">
        <p14:creationId xmlns:p14="http://schemas.microsoft.com/office/powerpoint/2010/main" val="1925938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DF21C-413F-A7F4-81C5-F45D6516AC9B}"/>
              </a:ext>
            </a:extLst>
          </p:cNvPr>
          <p:cNvSpPr>
            <a:spLocks noGrp="1"/>
          </p:cNvSpPr>
          <p:nvPr>
            <p:ph type="title"/>
          </p:nvPr>
        </p:nvSpPr>
        <p:spPr>
          <a:xfrm>
            <a:off x="1870402" y="2612142"/>
            <a:ext cx="7958331" cy="1077229"/>
          </a:xfrm>
        </p:spPr>
        <p:txBody>
          <a:bodyPr/>
          <a:lstStyle/>
          <a:p>
            <a:pPr algn="ctr"/>
            <a:r>
              <a:rPr lang="en-US" dirty="0"/>
              <a:t>Thank you for your time!</a:t>
            </a:r>
          </a:p>
        </p:txBody>
      </p:sp>
      <p:sp>
        <p:nvSpPr>
          <p:cNvPr id="3" name="Content Placeholder 2">
            <a:extLst>
              <a:ext uri="{FF2B5EF4-FFF2-40B4-BE49-F238E27FC236}">
                <a16:creationId xmlns:a16="http://schemas.microsoft.com/office/drawing/2014/main" id="{7EB9CE3C-717B-729C-F2B4-F5A800249C30}"/>
              </a:ext>
            </a:extLst>
          </p:cNvPr>
          <p:cNvSpPr>
            <a:spLocks noGrp="1"/>
          </p:cNvSpPr>
          <p:nvPr>
            <p:ph idx="1"/>
          </p:nvPr>
        </p:nvSpPr>
        <p:spPr/>
        <p:txBody>
          <a:bodyPr/>
          <a:lstStyle/>
          <a:p>
            <a:r>
              <a:rPr lang="en-US" dirty="0"/>
              <a:t>Thank you for watching this presentation! </a:t>
            </a:r>
          </a:p>
          <a:p>
            <a:r>
              <a:rPr lang="en-US" dirty="0"/>
              <a:t>Stay Blessed!</a:t>
            </a:r>
          </a:p>
        </p:txBody>
      </p:sp>
      <p:sp>
        <p:nvSpPr>
          <p:cNvPr id="4" name="TextBox 3">
            <a:extLst>
              <a:ext uri="{FF2B5EF4-FFF2-40B4-BE49-F238E27FC236}">
                <a16:creationId xmlns:a16="http://schemas.microsoft.com/office/drawing/2014/main" id="{B754E522-BF05-DA67-FD40-56209B2CF96F}"/>
              </a:ext>
            </a:extLst>
          </p:cNvPr>
          <p:cNvSpPr txBox="1"/>
          <p:nvPr/>
        </p:nvSpPr>
        <p:spPr>
          <a:xfrm>
            <a:off x="420914" y="898196"/>
            <a:ext cx="217714" cy="2585323"/>
          </a:xfrm>
          <a:prstGeom prst="rect">
            <a:avLst/>
          </a:prstGeom>
          <a:noFill/>
        </p:spPr>
        <p:txBody>
          <a:bodyPr wrap="square" rtlCol="0">
            <a:spAutoFit/>
          </a:bodyPr>
          <a:lstStyle/>
          <a:p>
            <a:r>
              <a:rPr lang="en-US" dirty="0"/>
              <a:t>Thank </a:t>
            </a:r>
          </a:p>
          <a:p>
            <a:endParaRPr lang="en-US" dirty="0"/>
          </a:p>
          <a:p>
            <a:r>
              <a:rPr lang="en-US" dirty="0"/>
              <a:t>You</a:t>
            </a:r>
          </a:p>
        </p:txBody>
      </p:sp>
    </p:spTree>
    <p:extLst>
      <p:ext uri="{BB962C8B-B14F-4D97-AF65-F5344CB8AC3E}">
        <p14:creationId xmlns:p14="http://schemas.microsoft.com/office/powerpoint/2010/main" val="13225184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226</TotalTime>
  <Words>1444</Words>
  <Application>Microsoft Macintosh PowerPoint</Application>
  <PresentationFormat>Widescreen</PresentationFormat>
  <Paragraphs>141</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MS Shell Dlg 2</vt:lpstr>
      <vt:lpstr>Wingdings</vt:lpstr>
      <vt:lpstr>Wingdings 3</vt:lpstr>
      <vt:lpstr>Madison</vt:lpstr>
      <vt:lpstr>IT Project Management  Final Presentation  </vt:lpstr>
      <vt:lpstr>Freelance QA Testing Service Business</vt:lpstr>
      <vt:lpstr>Objectives</vt:lpstr>
      <vt:lpstr>Stakeholders</vt:lpstr>
      <vt:lpstr>WBS Initiating Phase:  Company Kick off meeting, research our testing  competition(especially local businesses),  and identifying our target demographics clients.  Planning Phase: Set pricing, select which testing tools we will use,  and budget planning/estimates to ensure we can be profitable.  Executing Phase: Build our testing landing page, purchase domain &amp;  hosting. Design our company website, Set up  Playwright. Write Automated test scripts, Execute QA  test cases and validation workflows using Playwright,  and focus group testing for practice  &amp; feedback.  Monitoring &amp; Controlling Phase:  Review practice test feedback &amp; then improve services  Closing: Finalize business readiness (get as market ready  as possible) and then Launch QA testing service!  Goal: 6 months process </vt:lpstr>
      <vt:lpstr>Budget</vt:lpstr>
      <vt:lpstr>Financial Analysis</vt:lpstr>
      <vt:lpstr>PowerPoint Presentation</vt:lpstr>
      <vt:lpstr>Milestone Report</vt:lpstr>
      <vt:lpstr>HR Plan</vt:lpstr>
      <vt:lpstr>HR  Plan</vt:lpstr>
      <vt:lpstr>SWOT Risk Analysis</vt:lpstr>
      <vt:lpstr>Risk Management Plan</vt:lpstr>
      <vt:lpstr>QA Plan</vt:lpstr>
      <vt:lpstr>Summary &amp; Lessons Learned</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Pangrazz</dc:creator>
  <cp:lastModifiedBy>Jordan Pangrazz</cp:lastModifiedBy>
  <cp:revision>49</cp:revision>
  <dcterms:created xsi:type="dcterms:W3CDTF">2026-04-15T00:12:28Z</dcterms:created>
  <dcterms:modified xsi:type="dcterms:W3CDTF">2026-04-27T17:43:05Z</dcterms:modified>
</cp:coreProperties>
</file>